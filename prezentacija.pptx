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15"/>
  </p:notesMasterIdLst>
  <p:sldIdLst>
    <p:sldId id="256" r:id="rId2"/>
    <p:sldId id="261" r:id="rId3"/>
    <p:sldId id="285" r:id="rId4"/>
    <p:sldId id="286" r:id="rId5"/>
    <p:sldId id="290" r:id="rId6"/>
    <p:sldId id="319" r:id="rId7"/>
    <p:sldId id="320" r:id="rId8"/>
    <p:sldId id="291" r:id="rId9"/>
    <p:sldId id="321" r:id="rId10"/>
    <p:sldId id="322" r:id="rId11"/>
    <p:sldId id="292" r:id="rId12"/>
    <p:sldId id="293" r:id="rId13"/>
    <p:sldId id="278" r:id="rId14"/>
  </p:sldIdLst>
  <p:sldSz cx="9144000" cy="5143500" type="screen16x9"/>
  <p:notesSz cx="6858000" cy="9144000"/>
  <p:embeddedFontLst>
    <p:embeddedFont>
      <p:font typeface="Arvo" panose="020B0604020202020204" charset="0"/>
      <p:regular r:id="rId16"/>
      <p:bold r:id="rId17"/>
      <p:italic r:id="rId18"/>
      <p:boldItalic r:id="rId19"/>
    </p:embeddedFont>
    <p:embeddedFont>
      <p:font typeface="Cambria Math" panose="02040503050406030204" pitchFamily="18" charset="0"/>
      <p:regular r:id="rId20"/>
    </p:embeddedFont>
    <p:embeddedFont>
      <p:font typeface="Roboto Condensed" panose="02000000000000000000" pitchFamily="2" charset="0"/>
      <p:regular r:id="rId21"/>
      <p:bold r:id="rId22"/>
      <p:italic r:id="rId23"/>
      <p:boldItalic r:id="rId24"/>
    </p:embeddedFont>
    <p:embeddedFont>
      <p:font typeface="Roboto Condensed Light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7665BA-8202-44FC-AD62-C9F0E3EA811A}">
  <a:tblStyle styleId="{E27665BA-8202-44FC-AD62-C9F0E3EA81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15DE48A-E3B5-44D0-98CB-AE0B3FDC037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45" y="1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284564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3403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3326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2299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2081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8741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40324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53956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6262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2662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5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63" name="Google Shape;63;p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" name="Google Shape;64;p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0" name="Google Shape;70;p5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71" name="Google Shape;71;p5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72" name="Google Shape;72;p5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75" name="Google Shape;75;p5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76" name="Google Shape;76;p5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0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64" name="Google Shape;164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5" name="Google Shape;165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6" name="Google Shape;166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8" name="Google Shape;168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9" name="Google Shape;169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1" name="Google Shape;171;p10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72" name="Google Shape;172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3" name="Google Shape;173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74" name="Google Shape;174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6" name="Google Shape;176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7" name="Google Shape;177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9" name="Google Shape;179;p10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6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685799" y="1090750"/>
            <a:ext cx="5558589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sz="3200" dirty="0"/>
              <a:t>Praktična primjena metode PCA za smanjenje </a:t>
            </a:r>
            <a:r>
              <a:rPr lang="sr-Latn-ME" sz="3200" dirty="0" err="1"/>
              <a:t>dimenzionalnosti</a:t>
            </a:r>
            <a:r>
              <a:rPr lang="sr-Latn-ME" sz="3200" dirty="0"/>
              <a:t> nad skupom podataka Iris</a:t>
            </a:r>
            <a:endParaRPr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5270642" y="4315146"/>
            <a:ext cx="3750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ME" dirty="0"/>
              <a:t>IVANA ČVOROVIĆ 9/2020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sr-Latn-ME" dirty="0"/>
              <a:t>Uvod i cilj zadatka</a:t>
            </a:r>
            <a:endParaRPr dirty="0"/>
          </a:p>
        </p:txBody>
      </p:sp>
      <p:sp>
        <p:nvSpPr>
          <p:cNvPr id="237" name="Google Shape;237;p16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600" b="1" dirty="0" err="1"/>
              <a:t>Metoda</a:t>
            </a:r>
            <a:r>
              <a:rPr lang="en-US" sz="1600" b="1" dirty="0"/>
              <a:t> </a:t>
            </a:r>
            <a:r>
              <a:rPr lang="en-US" sz="1600" b="1" dirty="0" err="1"/>
              <a:t>glavnih</a:t>
            </a:r>
            <a:r>
              <a:rPr lang="en-US" sz="1600" b="1" dirty="0"/>
              <a:t> </a:t>
            </a:r>
            <a:r>
              <a:rPr lang="en-US" sz="1600" b="1" dirty="0" err="1"/>
              <a:t>komponenti</a:t>
            </a:r>
            <a:r>
              <a:rPr lang="en-US" sz="1600" b="1" dirty="0"/>
              <a:t> (PCA):</a:t>
            </a:r>
            <a:r>
              <a:rPr lang="en-US" sz="1600" dirty="0"/>
              <a:t> </a:t>
            </a:r>
            <a:r>
              <a:rPr lang="en-US" sz="1600" dirty="0" err="1"/>
              <a:t>Tehnika</a:t>
            </a:r>
            <a:r>
              <a:rPr lang="en-US" sz="1600" dirty="0"/>
              <a:t> </a:t>
            </a:r>
            <a:r>
              <a:rPr lang="en-US" sz="1600" dirty="0" err="1"/>
              <a:t>nenadgledanog</a:t>
            </a:r>
            <a:r>
              <a:rPr lang="en-US" sz="1600" dirty="0"/>
              <a:t> </a:t>
            </a:r>
            <a:r>
              <a:rPr lang="en-US" sz="1600" dirty="0" err="1"/>
              <a:t>mašinskog</a:t>
            </a:r>
            <a:r>
              <a:rPr lang="en-US" sz="1600" dirty="0"/>
              <a:t> </a:t>
            </a:r>
            <a:r>
              <a:rPr lang="en-US" sz="1600" dirty="0" err="1"/>
              <a:t>učenja</a:t>
            </a:r>
            <a:r>
              <a:rPr lang="en-US" sz="1600" dirty="0"/>
              <a:t> </a:t>
            </a:r>
            <a:r>
              <a:rPr lang="en-US" sz="1600" dirty="0" err="1"/>
              <a:t>namenjena</a:t>
            </a:r>
            <a:r>
              <a:rPr lang="en-US" sz="1600" dirty="0"/>
              <a:t> </a:t>
            </a:r>
            <a:r>
              <a:rPr lang="en-US" sz="1600" dirty="0" err="1"/>
              <a:t>redukciji</a:t>
            </a:r>
            <a:r>
              <a:rPr lang="en-US" sz="1600" dirty="0"/>
              <a:t> </a:t>
            </a:r>
            <a:r>
              <a:rPr lang="en-US" sz="1600" dirty="0" err="1"/>
              <a:t>dimenzionalnosti</a:t>
            </a:r>
            <a:r>
              <a:rPr lang="en-US" sz="1600" dirty="0"/>
              <a:t>, </a:t>
            </a:r>
            <a:r>
              <a:rPr lang="en-US" sz="1600" dirty="0" err="1"/>
              <a:t>kompresiji</a:t>
            </a:r>
            <a:r>
              <a:rPr lang="en-US" sz="1600" dirty="0"/>
              <a:t> </a:t>
            </a:r>
            <a:r>
              <a:rPr lang="en-US" sz="1600" dirty="0" err="1"/>
              <a:t>podataka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vizuelnoj</a:t>
            </a:r>
            <a:r>
              <a:rPr lang="en-US" sz="1600" dirty="0"/>
              <a:t> </a:t>
            </a:r>
            <a:r>
              <a:rPr lang="en-US" sz="1600" dirty="0" err="1"/>
              <a:t>analizi</a:t>
            </a:r>
            <a:r>
              <a:rPr lang="en-US" sz="1600" dirty="0"/>
              <a:t>. </a:t>
            </a:r>
          </a:p>
          <a:p>
            <a:pPr lvl="0"/>
            <a:r>
              <a:rPr lang="en-US" sz="1600" b="1" dirty="0" err="1"/>
              <a:t>Glavni</a:t>
            </a:r>
            <a:r>
              <a:rPr lang="en-US" sz="1600" b="1" dirty="0"/>
              <a:t> </a:t>
            </a:r>
            <a:r>
              <a:rPr lang="en-US" sz="1600" b="1" dirty="0" err="1"/>
              <a:t>cilj</a:t>
            </a:r>
            <a:r>
              <a:rPr lang="en-US" sz="1600" b="1" dirty="0"/>
              <a:t>:</a:t>
            </a:r>
            <a:r>
              <a:rPr lang="en-US" sz="1600" dirty="0"/>
              <a:t> </a:t>
            </a:r>
            <a:r>
              <a:rPr lang="en-US" sz="1600" dirty="0" err="1"/>
              <a:t>Redukcija</a:t>
            </a:r>
            <a:r>
              <a:rPr lang="en-US" sz="1600" dirty="0"/>
              <a:t> </a:t>
            </a:r>
            <a:r>
              <a:rPr lang="en-US" sz="1600" dirty="0" err="1"/>
              <a:t>četvorodimenzionalnog</a:t>
            </a:r>
            <a:r>
              <a:rPr lang="en-US" sz="1600" dirty="0"/>
              <a:t> (4D) </a:t>
            </a:r>
            <a:r>
              <a:rPr lang="en-US" sz="1600" dirty="0" err="1"/>
              <a:t>prostora</a:t>
            </a:r>
            <a:r>
              <a:rPr lang="en-US" sz="1600" dirty="0"/>
              <a:t> </a:t>
            </a:r>
            <a:r>
              <a:rPr lang="en-US" sz="1600" dirty="0" err="1"/>
              <a:t>osobina</a:t>
            </a:r>
            <a:r>
              <a:rPr lang="en-US" sz="1600" dirty="0"/>
              <a:t> Iris </a:t>
            </a:r>
            <a:r>
              <a:rPr lang="en-US" sz="1600" dirty="0" err="1"/>
              <a:t>skupa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</a:t>
            </a:r>
            <a:r>
              <a:rPr lang="en-US" sz="1600" dirty="0" err="1"/>
              <a:t>dvodimenzionalni</a:t>
            </a:r>
            <a:r>
              <a:rPr lang="en-US" sz="1600" dirty="0"/>
              <a:t> (2D)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trodimenzionalni</a:t>
            </a:r>
            <a:r>
              <a:rPr lang="en-US" sz="1600" dirty="0"/>
              <a:t> (3D) </a:t>
            </a:r>
            <a:r>
              <a:rPr lang="en-US" sz="1600" dirty="0" err="1"/>
              <a:t>prostor</a:t>
            </a:r>
            <a:r>
              <a:rPr lang="en-US" sz="1600" dirty="0"/>
              <a:t>. </a:t>
            </a:r>
          </a:p>
          <a:p>
            <a:pPr lvl="0"/>
            <a:r>
              <a:rPr lang="en-US" sz="1600" b="1" dirty="0" err="1"/>
              <a:t>Ključni</a:t>
            </a:r>
            <a:r>
              <a:rPr lang="en-US" sz="1600" b="1" dirty="0"/>
              <a:t> </a:t>
            </a:r>
            <a:r>
              <a:rPr lang="en-US" sz="1600" b="1" dirty="0" err="1"/>
              <a:t>kriterijumi</a:t>
            </a:r>
            <a:r>
              <a:rPr lang="en-US" sz="1600" b="1" dirty="0"/>
              <a:t>:</a:t>
            </a:r>
            <a:endParaRPr lang="en-US" sz="1600" dirty="0"/>
          </a:p>
          <a:p>
            <a:pPr lvl="1"/>
            <a:r>
              <a:rPr lang="en-US" sz="1600" dirty="0" err="1"/>
              <a:t>Minimalan</a:t>
            </a:r>
            <a:r>
              <a:rPr lang="en-US" sz="1600" dirty="0"/>
              <a:t> </a:t>
            </a:r>
            <a:r>
              <a:rPr lang="en-US" sz="1600" dirty="0" err="1"/>
              <a:t>gubitak</a:t>
            </a:r>
            <a:r>
              <a:rPr lang="en-US" sz="1600" dirty="0"/>
              <a:t> </a:t>
            </a:r>
            <a:r>
              <a:rPr lang="en-US" sz="1600" dirty="0" err="1"/>
              <a:t>informacija</a:t>
            </a:r>
            <a:r>
              <a:rPr lang="en-US" sz="1600" dirty="0"/>
              <a:t> (</a:t>
            </a:r>
            <a:r>
              <a:rPr lang="en-US" sz="1600" dirty="0" err="1"/>
              <a:t>očuvanje</a:t>
            </a:r>
            <a:r>
              <a:rPr lang="en-US" sz="1600" dirty="0"/>
              <a:t> </a:t>
            </a:r>
            <a:r>
              <a:rPr lang="en-US" sz="1600" dirty="0" err="1"/>
              <a:t>varijanse</a:t>
            </a:r>
            <a:r>
              <a:rPr lang="en-US" sz="1600" dirty="0"/>
              <a:t>). </a:t>
            </a:r>
          </a:p>
          <a:p>
            <a:pPr lvl="1"/>
            <a:r>
              <a:rPr lang="en-US" sz="1600" dirty="0" err="1"/>
              <a:t>Evaluacija</a:t>
            </a:r>
            <a:r>
              <a:rPr lang="en-US" sz="1600" dirty="0"/>
              <a:t> </a:t>
            </a:r>
            <a:r>
              <a:rPr lang="en-US" sz="1600" dirty="0" err="1"/>
              <a:t>razdvojivosti</a:t>
            </a:r>
            <a:r>
              <a:rPr lang="en-US" sz="1600" dirty="0"/>
              <a:t> </a:t>
            </a:r>
            <a:r>
              <a:rPr lang="en-US" sz="1600" dirty="0" err="1"/>
              <a:t>klasa</a:t>
            </a:r>
            <a:r>
              <a:rPr lang="en-US" sz="1600" dirty="0"/>
              <a:t> u </a:t>
            </a:r>
            <a:r>
              <a:rPr lang="en-US" sz="1600" dirty="0" err="1"/>
              <a:t>redukovanom</a:t>
            </a:r>
            <a:r>
              <a:rPr lang="en-US" sz="1600" dirty="0"/>
              <a:t> </a:t>
            </a:r>
            <a:r>
              <a:rPr lang="en-US" sz="1600" dirty="0" err="1"/>
              <a:t>prostoru</a:t>
            </a:r>
            <a:r>
              <a:rPr lang="en-US" sz="1600" dirty="0"/>
              <a:t>. </a:t>
            </a:r>
          </a:p>
        </p:txBody>
      </p:sp>
      <p:sp>
        <p:nvSpPr>
          <p:cNvPr id="238" name="Google Shape;238;p1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0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 err="1"/>
              <a:t>Skup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pretprocesiranje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7" name="Google Shape;237;p1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77767" y="1454907"/>
                <a:ext cx="6134090" cy="36525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r>
                  <a:rPr lang="en-US" sz="1400" b="1" dirty="0"/>
                  <a:t>Opis Iris </a:t>
                </a:r>
                <a:r>
                  <a:rPr lang="en-US" sz="1400" b="1" dirty="0" err="1"/>
                  <a:t>skupa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podataka</a:t>
                </a:r>
                <a:r>
                  <a:rPr lang="en-US" sz="1400" b="1" dirty="0"/>
                  <a:t>:</a:t>
                </a:r>
                <a:endParaRPr lang="en-US" sz="1400" dirty="0"/>
              </a:p>
              <a:p>
                <a:pPr lvl="1"/>
                <a:r>
                  <a:rPr lang="en-US" sz="1400" dirty="0" err="1"/>
                  <a:t>Ukupno</a:t>
                </a:r>
                <a:r>
                  <a:rPr lang="en-US" sz="1400" dirty="0"/>
                  <a:t> 150 </a:t>
                </a:r>
                <a:r>
                  <a:rPr lang="en-US" sz="1400" dirty="0" err="1"/>
                  <a:t>uzoraka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podijeljenih</a:t>
                </a:r>
                <a:r>
                  <a:rPr lang="en-US" sz="1400" dirty="0"/>
                  <a:t> u 3 </a:t>
                </a:r>
                <a:r>
                  <a:rPr lang="en-US" sz="1400" dirty="0" err="1"/>
                  <a:t>balansirane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klase</a:t>
                </a:r>
                <a:r>
                  <a:rPr lang="en-US" sz="1400" dirty="0"/>
                  <a:t> (po 50 </a:t>
                </a:r>
                <a:r>
                  <a:rPr lang="en-US" sz="1400" dirty="0" err="1"/>
                  <a:t>uzoraka</a:t>
                </a:r>
                <a:r>
                  <a:rPr lang="en-US" sz="1400" dirty="0"/>
                  <a:t>): </a:t>
                </a:r>
                <a:r>
                  <a:rPr lang="en-US" sz="1400" i="1" dirty="0" err="1"/>
                  <a:t>Setosa</a:t>
                </a:r>
                <a:r>
                  <a:rPr lang="en-US" sz="1400" dirty="0"/>
                  <a:t>, </a:t>
                </a:r>
                <a:r>
                  <a:rPr lang="en-US" sz="1400" i="1" dirty="0"/>
                  <a:t>Versicolor</a:t>
                </a:r>
                <a:r>
                  <a:rPr lang="en-US" sz="1400" dirty="0"/>
                  <a:t>, </a:t>
                </a:r>
                <a:r>
                  <a:rPr lang="en-US" sz="1400" i="1" dirty="0"/>
                  <a:t>Virginica</a:t>
                </a:r>
                <a:r>
                  <a:rPr lang="en-US" sz="1400" dirty="0"/>
                  <a:t>. </a:t>
                </a:r>
              </a:p>
              <a:p>
                <a:pPr lvl="1"/>
                <a:r>
                  <a:rPr lang="en-US" sz="1400" dirty="0" err="1"/>
                  <a:t>Svaki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uzorak</a:t>
                </a:r>
                <a:r>
                  <a:rPr lang="en-US" sz="1400" dirty="0"/>
                  <a:t> </a:t>
                </a:r>
                <a:r>
                  <a:rPr lang="en-US" sz="1400" dirty="0" err="1"/>
                  <a:t>opisan</a:t>
                </a:r>
                <a:r>
                  <a:rPr lang="en-US" sz="1400" dirty="0"/>
                  <a:t> je </a:t>
                </a:r>
                <a:r>
                  <a:rPr lang="en-US" sz="1400" dirty="0" err="1"/>
                  <a:t>sa</a:t>
                </a:r>
                <a:r>
                  <a:rPr lang="en-US" sz="1400" dirty="0"/>
                  <a:t> 4 </a:t>
                </a:r>
                <a:r>
                  <a:rPr lang="en-US" sz="1400" dirty="0" err="1"/>
                  <a:t>numeričke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osobine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dužina</a:t>
                </a:r>
                <a:r>
                  <a:rPr lang="en-US" sz="1400" dirty="0"/>
                  <a:t>/</a:t>
                </a:r>
                <a:r>
                  <a:rPr lang="en-US" sz="1400" dirty="0" err="1"/>
                  <a:t>širina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čašičnih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kruničnih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listića</a:t>
                </a:r>
                <a:r>
                  <a:rPr lang="en-US" sz="1400" dirty="0"/>
                  <a:t>). </a:t>
                </a:r>
              </a:p>
              <a:p>
                <a:pPr lvl="0"/>
                <a:r>
                  <a:rPr lang="en-US" sz="1400" b="1" dirty="0" err="1"/>
                  <a:t>Standardizacija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ulaznih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podataka</a:t>
                </a:r>
                <a:r>
                  <a:rPr lang="en-US" sz="1400" b="1" dirty="0"/>
                  <a:t>:</a:t>
                </a:r>
                <a:endParaRPr lang="en-US" sz="1400" dirty="0"/>
              </a:p>
              <a:p>
                <a:pPr lvl="1"/>
                <a:r>
                  <a:rPr lang="en-US" sz="1400" dirty="0"/>
                  <a:t>PCA je </a:t>
                </a:r>
                <a:r>
                  <a:rPr lang="en-US" sz="1400" dirty="0" err="1"/>
                  <a:t>izuzetno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osjetljiva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opseg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skalu</a:t>
                </a:r>
                <a:r>
                  <a:rPr lang="en-US" sz="1400" dirty="0"/>
                  <a:t> </a:t>
                </a:r>
                <a:r>
                  <a:rPr lang="en-US" sz="1400" dirty="0" err="1"/>
                  <a:t>ulaznih</a:t>
                </a:r>
                <a:r>
                  <a:rPr lang="en-US" sz="1400" dirty="0"/>
                  <a:t> </a:t>
                </a:r>
                <a:r>
                  <a:rPr lang="en-US" sz="1400" dirty="0" err="1"/>
                  <a:t>varijabli</a:t>
                </a:r>
                <a:r>
                  <a:rPr lang="en-US" sz="1400" dirty="0"/>
                  <a:t>. </a:t>
                </a:r>
              </a:p>
              <a:p>
                <a:pPr lvl="1"/>
                <a:r>
                  <a:rPr lang="en-US" sz="1400" dirty="0" err="1"/>
                  <a:t>Primijenjen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StandardScaler</a:t>
                </a:r>
                <a:r>
                  <a:rPr lang="en-US" sz="1400" dirty="0"/>
                  <a:t>:</a:t>
                </a:r>
              </a:p>
              <a:p>
                <a:pPr marL="5334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/>
                          </m:ctrlPr>
                        </m:sSubPr>
                        <m:e>
                          <m:r>
                            <a:rPr lang="en-US" sz="1400" i="1"/>
                            <m:t>𝑋</m:t>
                          </m:r>
                        </m:e>
                        <m:sub>
                          <m:r>
                            <a:rPr lang="en-US" sz="1400" i="1"/>
                            <m:t>𝑠𝑐𝑎𝑙𝑒𝑑</m:t>
                          </m:r>
                        </m:sub>
                      </m:sSub>
                      <m:r>
                        <a:rPr lang="en-US" sz="1400"/>
                        <m:t>=</m:t>
                      </m:r>
                      <m:f>
                        <m:fPr>
                          <m:ctrlPr>
                            <a:rPr lang="en-US" sz="1400" i="1"/>
                          </m:ctrlPr>
                        </m:fPr>
                        <m:num>
                          <m:r>
                            <a:rPr lang="en-US" sz="1400" i="1"/>
                            <m:t>𝑋</m:t>
                          </m:r>
                          <m:r>
                            <a:rPr lang="en-US" sz="1400"/>
                            <m:t>−</m:t>
                          </m:r>
                          <m:r>
                            <a:rPr lang="en-US" sz="1400" i="1"/>
                            <m:t>𝜇</m:t>
                          </m:r>
                        </m:num>
                        <m:den>
                          <m:r>
                            <a:rPr lang="en-US" sz="1400" i="1"/>
                            <m:t>𝜎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  <a:p>
                <a:pPr lvl="1"/>
                <a:r>
                  <a:rPr lang="en-US" sz="1400" dirty="0" err="1"/>
                  <a:t>Transformacija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postavlja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srednju</a:t>
                </a:r>
                <a:r>
                  <a:rPr lang="en-US" sz="1400" dirty="0"/>
                  <a:t> </a:t>
                </a:r>
                <a:r>
                  <a:rPr lang="en-US" sz="1400" dirty="0" err="1"/>
                  <a:t>vrijednost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/>
                      <m:t>𝜇</m:t>
                    </m:r>
                    <m:r>
                      <a:rPr lang="en-US" sz="1400"/>
                      <m:t>=0</m:t>
                    </m:r>
                  </m:oMath>
                </a14:m>
                <a:r>
                  <a:rPr lang="sr-Latn-ME" sz="1400" dirty="0"/>
                  <a:t>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standardnu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devijaciju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/>
                      <m:t>𝜎</m:t>
                    </m:r>
                    <m:r>
                      <a:rPr lang="en-US" sz="1400"/>
                      <m:t>=1</m:t>
                    </m:r>
                    <m:r>
                      <a:rPr lang="sr-Latn-ME" sz="1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za </a:t>
                </a:r>
                <a:r>
                  <a:rPr lang="en-US" sz="1400" dirty="0" err="1"/>
                  <a:t>sve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osobine</a:t>
                </a:r>
                <a:r>
                  <a:rPr lang="en-US" sz="1400" dirty="0"/>
                  <a:t>. </a:t>
                </a:r>
              </a:p>
              <a:p>
                <a:pPr marL="76200" indent="0">
                  <a:buNone/>
                </a:pPr>
                <a:endParaRPr sz="1400" dirty="0"/>
              </a:p>
            </p:txBody>
          </p:sp>
        </mc:Choice>
        <mc:Fallback>
          <p:sp>
            <p:nvSpPr>
              <p:cNvPr id="237" name="Google Shape;237;p1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77767" y="1454907"/>
                <a:ext cx="6134090" cy="3652500"/>
              </a:xfrm>
              <a:prstGeom prst="rect">
                <a:avLst/>
              </a:prstGeom>
              <a:blipFill>
                <a:blip r:embed="rId3"/>
                <a:stretch>
                  <a:fillRect l="-199" t="-3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8" name="Google Shape;238;p1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0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62283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err="1"/>
              <a:t>Metodologija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eksperimentalne</a:t>
            </a:r>
            <a:r>
              <a:rPr lang="en-US" dirty="0"/>
              <a:t> </a:t>
            </a:r>
            <a:r>
              <a:rPr lang="en-US" dirty="0" err="1"/>
              <a:t>varijante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7" name="Google Shape;237;p1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77767" y="1721640"/>
                <a:ext cx="6132600" cy="31455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600" dirty="0" err="1"/>
                  <a:t>Eksperiment</a:t>
                </a:r>
                <a:r>
                  <a:rPr lang="en-US" sz="1600" dirty="0"/>
                  <a:t> </a:t>
                </a:r>
                <a:r>
                  <a:rPr lang="en-US" sz="1600" dirty="0" err="1"/>
                  <a:t>obuhvata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četiri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varijante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podijeljene</a:t>
                </a:r>
                <a:r>
                  <a:rPr lang="en-US" sz="1600" dirty="0"/>
                  <a:t> u </a:t>
                </a:r>
                <a:r>
                  <a:rPr lang="en-US" sz="1600" dirty="0" err="1"/>
                  <a:t>dvije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metodološke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grupe</a:t>
                </a:r>
                <a:r>
                  <a:rPr lang="en-US" sz="1600" dirty="0"/>
                  <a:t>: </a:t>
                </a:r>
              </a:p>
              <a:p>
                <a:pPr lvl="0"/>
                <a:r>
                  <a:rPr lang="en-US" sz="1600" b="1" dirty="0" err="1"/>
                  <a:t>Eksplicitno</a:t>
                </a:r>
                <a:r>
                  <a:rPr lang="en-US" sz="1600" b="1" dirty="0"/>
                  <a:t> (</a:t>
                </a:r>
                <a:r>
                  <a:rPr lang="en-US" sz="1600" b="1" dirty="0" err="1"/>
                  <a:t>ručno</a:t>
                </a:r>
                <a:r>
                  <a:rPr lang="en-US" sz="1600" b="1" dirty="0"/>
                  <a:t>) </a:t>
                </a:r>
                <a:r>
                  <a:rPr lang="en-US" sz="1600" b="1" dirty="0" err="1"/>
                  <a:t>zadavanje</a:t>
                </a:r>
                <a:r>
                  <a:rPr lang="en-US" sz="1600" b="1" dirty="0"/>
                  <a:t> </a:t>
                </a:r>
                <a:r>
                  <a:rPr lang="en-US" sz="1600" b="1" dirty="0" err="1"/>
                  <a:t>broja</a:t>
                </a:r>
                <a:r>
                  <a:rPr lang="en-US" sz="1600" b="1" dirty="0"/>
                  <a:t> </a:t>
                </a:r>
                <a:r>
                  <a:rPr lang="en-US" sz="1600" b="1" dirty="0" err="1"/>
                  <a:t>komponenti</a:t>
                </a:r>
                <a:r>
                  <a:rPr lang="en-US" sz="1600" b="1" dirty="0"/>
                  <a:t>:</a:t>
                </a:r>
                <a:endParaRPr lang="en-US" sz="1600" dirty="0"/>
              </a:p>
              <a:p>
                <a:pPr lvl="1"/>
                <a:r>
                  <a:rPr lang="en-US" sz="1600" b="1" dirty="0" err="1"/>
                  <a:t>Varijanta</a:t>
                </a:r>
                <a:r>
                  <a:rPr lang="en-US" sz="1600" b="1" dirty="0"/>
                  <a:t> 1 (</a:t>
                </a:r>
                <a14:m>
                  <m:oMath xmlns:m="http://schemas.openxmlformats.org/officeDocument/2006/math">
                    <m:r>
                      <a:rPr lang="en-US" sz="1600" i="1"/>
                      <m:t>𝑛</m:t>
                    </m:r>
                    <m:r>
                      <a:rPr lang="en-US" sz="1600"/>
                      <m:t>_</m:t>
                    </m:r>
                    <m:r>
                      <a:rPr lang="en-US" sz="1600" i="1"/>
                      <m:t>𝑐𝑜𝑚𝑝𝑜𝑛𝑒𝑛𝑡𝑠</m:t>
                    </m:r>
                    <m:r>
                      <a:rPr lang="en-US" sz="1600"/>
                      <m:t>=3</m:t>
                    </m:r>
                  </m:oMath>
                </a14:m>
                <a:r>
                  <a:rPr lang="en-US" sz="1600" b="1" dirty="0"/>
                  <a:t>):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Projekcija</a:t>
                </a:r>
                <a:r>
                  <a:rPr lang="en-US" sz="1600" dirty="0"/>
                  <a:t> 4D </a:t>
                </a:r>
                <a:r>
                  <a:rPr lang="en-US" sz="1600" dirty="0" err="1"/>
                  <a:t>prostora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na</a:t>
                </a:r>
                <a:r>
                  <a:rPr lang="en-US" sz="1600" dirty="0"/>
                  <a:t> 3D </a:t>
                </a:r>
                <a:r>
                  <a:rPr lang="en-US" sz="1600" dirty="0" err="1"/>
                  <a:t>koordinatni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sistem</a:t>
                </a:r>
                <a:r>
                  <a:rPr lang="en-US" sz="1600" dirty="0"/>
                  <a:t>. </a:t>
                </a:r>
              </a:p>
              <a:p>
                <a:pPr lvl="1"/>
                <a:r>
                  <a:rPr lang="en-US" sz="1600" b="1" dirty="0" err="1"/>
                  <a:t>Varijanta</a:t>
                </a:r>
                <a:r>
                  <a:rPr lang="en-US" sz="1600" b="1" dirty="0"/>
                  <a:t> 3 (</a:t>
                </a:r>
                <a14:m>
                  <m:oMath xmlns:m="http://schemas.openxmlformats.org/officeDocument/2006/math">
                    <m:r>
                      <a:rPr lang="en-US" sz="1600" i="1"/>
                      <m:t>𝑛</m:t>
                    </m:r>
                    <m:r>
                      <a:rPr lang="en-US" sz="1600"/>
                      <m:t>_</m:t>
                    </m:r>
                    <m:r>
                      <a:rPr lang="en-US" sz="1600" i="1"/>
                      <m:t>𝑐𝑜𝑚𝑝𝑜𝑛𝑒𝑛𝑡𝑠</m:t>
                    </m:r>
                    <m:r>
                      <a:rPr lang="en-US" sz="1600"/>
                      <m:t>=2</m:t>
                    </m:r>
                  </m:oMath>
                </a14:m>
                <a:r>
                  <a:rPr lang="en-US" sz="1600" b="1" dirty="0"/>
                  <a:t>):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Projekcija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na</a:t>
                </a:r>
                <a:r>
                  <a:rPr lang="en-US" sz="1600" dirty="0"/>
                  <a:t> 2D </a:t>
                </a:r>
                <a:r>
                  <a:rPr lang="en-US" sz="1600" dirty="0" err="1"/>
                  <a:t>ravan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radi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jednostavnije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vizuelne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interpretacije</a:t>
                </a:r>
                <a:r>
                  <a:rPr lang="en-US" sz="1600" dirty="0"/>
                  <a:t>. </a:t>
                </a:r>
              </a:p>
              <a:p>
                <a:pPr lvl="0"/>
                <a:r>
                  <a:rPr lang="en-US" sz="1600" b="1" dirty="0" err="1"/>
                  <a:t>Automatsko</a:t>
                </a:r>
                <a:r>
                  <a:rPr lang="en-US" sz="1600" b="1" dirty="0"/>
                  <a:t> </a:t>
                </a:r>
                <a:r>
                  <a:rPr lang="en-US" sz="1600" b="1" dirty="0" err="1"/>
                  <a:t>određivanje</a:t>
                </a:r>
                <a:r>
                  <a:rPr lang="en-US" sz="1600" b="1" dirty="0"/>
                  <a:t> </a:t>
                </a:r>
                <a:r>
                  <a:rPr lang="en-US" sz="1600" b="1" dirty="0" err="1"/>
                  <a:t>broja</a:t>
                </a:r>
                <a:r>
                  <a:rPr lang="en-US" sz="1600" b="1" dirty="0"/>
                  <a:t> </a:t>
                </a:r>
                <a:r>
                  <a:rPr lang="en-US" sz="1600" b="1" dirty="0" err="1"/>
                  <a:t>komponenti</a:t>
                </a:r>
                <a:r>
                  <a:rPr lang="en-US" sz="1600" b="1" dirty="0"/>
                  <a:t> (</a:t>
                </a:r>
                <a:r>
                  <a:rPr lang="en-US" sz="1600" b="1" dirty="0" err="1"/>
                  <a:t>prag</a:t>
                </a:r>
                <a:r>
                  <a:rPr lang="en-US" sz="1600" b="1" dirty="0"/>
                  <a:t> </a:t>
                </a:r>
                <a:r>
                  <a:rPr lang="en-US" sz="1600" b="1" dirty="0" err="1"/>
                  <a:t>varijanse</a:t>
                </a:r>
                <a:r>
                  <a:rPr lang="en-US" sz="1600" b="1" dirty="0"/>
                  <a:t>):</a:t>
                </a:r>
                <a:endParaRPr lang="en-US" sz="1600" dirty="0"/>
              </a:p>
              <a:p>
                <a:pPr lvl="1"/>
                <a:r>
                  <a:rPr lang="en-US" sz="1600" b="1" dirty="0" err="1"/>
                  <a:t>Varijanta</a:t>
                </a:r>
                <a:r>
                  <a:rPr lang="en-US" sz="1600" b="1" dirty="0"/>
                  <a:t> 2 (</a:t>
                </a:r>
                <a14:m>
                  <m:oMath xmlns:m="http://schemas.openxmlformats.org/officeDocument/2006/math">
                    <m:r>
                      <a:rPr lang="en-US" sz="1600" i="1"/>
                      <m:t>𝑛</m:t>
                    </m:r>
                    <m:r>
                      <a:rPr lang="en-US" sz="1600"/>
                      <m:t>_</m:t>
                    </m:r>
                    <m:r>
                      <a:rPr lang="en-US" sz="1600" i="1"/>
                      <m:t>𝑐𝑜𝑚𝑝𝑜𝑛𝑒𝑛𝑡𝑠</m:t>
                    </m:r>
                    <m:r>
                      <a:rPr lang="en-US" sz="1600"/>
                      <m:t>=0.99</m:t>
                    </m:r>
                  </m:oMath>
                </a14:m>
                <a:r>
                  <a:rPr lang="en-US" sz="1600" b="1" dirty="0"/>
                  <a:t>):</a:t>
                </a:r>
                <a:r>
                  <a:rPr lang="en-US" sz="1600" dirty="0"/>
                  <a:t> </a:t>
                </a:r>
                <a:r>
                  <a:rPr lang="en-US" sz="1600" dirty="0" err="1"/>
                  <a:t>Zadržavanje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najmanje</a:t>
                </a:r>
                <a:r>
                  <a:rPr lang="en-US" sz="1600" dirty="0"/>
                  <a:t> 99% </a:t>
                </a:r>
                <a:r>
                  <a:rPr lang="en-US" sz="1600" dirty="0" err="1"/>
                  <a:t>ukupne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varijanse</a:t>
                </a:r>
                <a:r>
                  <a:rPr lang="en-US" sz="1600" dirty="0"/>
                  <a:t>. </a:t>
                </a:r>
              </a:p>
              <a:p>
                <a:pPr lvl="1"/>
                <a:r>
                  <a:rPr lang="en-US" sz="1600" b="1" dirty="0" err="1"/>
                  <a:t>Varijanta</a:t>
                </a:r>
                <a:r>
                  <a:rPr lang="en-US" sz="1600" b="1" dirty="0"/>
                  <a:t> 4 (</a:t>
                </a:r>
                <a14:m>
                  <m:oMath xmlns:m="http://schemas.openxmlformats.org/officeDocument/2006/math">
                    <m:r>
                      <a:rPr lang="en-US" sz="1600" i="1"/>
                      <m:t>𝑛</m:t>
                    </m:r>
                    <m:r>
                      <a:rPr lang="en-US" sz="1600"/>
                      <m:t>_</m:t>
                    </m:r>
                    <m:r>
                      <a:rPr lang="en-US" sz="1600" i="1"/>
                      <m:t>𝑐𝑜𝑚𝑝𝑜𝑛𝑒𝑛𝑡𝑠</m:t>
                    </m:r>
                    <m:r>
                      <a:rPr lang="en-US" sz="1600"/>
                      <m:t>=0.95</m:t>
                    </m:r>
                  </m:oMath>
                </a14:m>
                <a:r>
                  <a:rPr lang="en-US" sz="1600" b="1" dirty="0"/>
                  <a:t>):</a:t>
                </a:r>
                <a:r>
                  <a:rPr lang="en-US" sz="1600" dirty="0"/>
                  <a:t> </a:t>
                </a:r>
                <a:r>
                  <a:rPr lang="en-US" sz="1600" dirty="0" err="1"/>
                  <a:t>Zadržavanje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najmanje</a:t>
                </a:r>
                <a:r>
                  <a:rPr lang="en-US" sz="1600" dirty="0"/>
                  <a:t> 95% </a:t>
                </a:r>
                <a:r>
                  <a:rPr lang="en-US" sz="1600" dirty="0" err="1"/>
                  <a:t>ukupne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varijanse</a:t>
                </a:r>
                <a:r>
                  <a:rPr lang="en-US" sz="1600" dirty="0"/>
                  <a:t>. </a:t>
                </a:r>
              </a:p>
              <a:p>
                <a:pPr marL="76200" lvl="0" indent="0" algn="l" rtl="0">
                  <a:spcBef>
                    <a:spcPts val="0"/>
                  </a:spcBef>
                  <a:spcAft>
                    <a:spcPts val="0"/>
                  </a:spcAft>
                  <a:buSzPts val="2400"/>
                  <a:buNone/>
                </a:pPr>
                <a:endParaRPr sz="1600" dirty="0"/>
              </a:p>
            </p:txBody>
          </p:sp>
        </mc:Choice>
        <mc:Fallback>
          <p:sp>
            <p:nvSpPr>
              <p:cNvPr id="237" name="Google Shape;237;p1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77767" y="1721640"/>
                <a:ext cx="6132600" cy="3145500"/>
              </a:xfrm>
              <a:prstGeom prst="rect">
                <a:avLst/>
              </a:prstGeom>
              <a:blipFill>
                <a:blip r:embed="rId3"/>
                <a:stretch>
                  <a:fillRect l="-199" t="-15698" r="-696" b="-8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8" name="Google Shape;238;p1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0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13992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 err="1"/>
              <a:t>Rezultati</a:t>
            </a:r>
            <a:r>
              <a:rPr lang="en-US" dirty="0"/>
              <a:t> – 3D </a:t>
            </a:r>
            <a:r>
              <a:rPr lang="en-US" dirty="0" err="1"/>
              <a:t>Projekcija</a:t>
            </a:r>
            <a:r>
              <a:rPr lang="en-US" dirty="0"/>
              <a:t> (</a:t>
            </a:r>
            <a:r>
              <a:rPr lang="en-US" dirty="0" err="1"/>
              <a:t>Varijante</a:t>
            </a:r>
            <a:r>
              <a:rPr lang="en-US" dirty="0"/>
              <a:t> 1 </a:t>
            </a:r>
            <a:r>
              <a:rPr lang="en-US" dirty="0" err="1"/>
              <a:t>i</a:t>
            </a:r>
            <a:r>
              <a:rPr lang="en-US" dirty="0"/>
              <a:t> 2)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7" name="Google Shape;237;p1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950019" y="1453369"/>
                <a:ext cx="5492400" cy="31455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r>
                  <a:rPr lang="en-US" sz="1600" b="1" dirty="0" err="1"/>
                  <a:t>Varijanta</a:t>
                </a:r>
                <a:r>
                  <a:rPr lang="en-US" sz="1600" b="1" dirty="0"/>
                  <a:t> 1 (</a:t>
                </a:r>
                <a:r>
                  <a:rPr lang="en-US" sz="1600" b="1" dirty="0" err="1"/>
                  <a:t>Ručno</a:t>
                </a:r>
                <a:r>
                  <a:rPr lang="en-US" sz="1600" b="1" dirty="0"/>
                  <a:t>: 3 </a:t>
                </a:r>
                <a:r>
                  <a:rPr lang="en-US" sz="1600" b="1" dirty="0" err="1"/>
                  <a:t>komponente</a:t>
                </a:r>
                <a:r>
                  <a:rPr lang="en-US" sz="1600" b="1" dirty="0"/>
                  <a:t>):</a:t>
                </a:r>
                <a:r>
                  <a:rPr lang="sr-Latn-ME" sz="1600" b="1" dirty="0"/>
                  <a:t> </a:t>
                </a:r>
                <a:r>
                  <a:rPr lang="en-US" sz="1600" dirty="0" err="1"/>
                  <a:t>Zadržavanjem</a:t>
                </a:r>
                <a:r>
                  <a:rPr lang="en-US" sz="1600" dirty="0"/>
                  <a:t> 3 </a:t>
                </a:r>
                <a:r>
                  <a:rPr lang="en-US" sz="1600" dirty="0" err="1"/>
                  <a:t>komponente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objašnjeno</a:t>
                </a:r>
                <a:r>
                  <a:rPr lang="en-US" sz="1600" dirty="0"/>
                  <a:t> je </a:t>
                </a:r>
                <a:r>
                  <a:rPr lang="en-US" sz="1600" b="1" dirty="0"/>
                  <a:t>99.48%</a:t>
                </a:r>
                <a:r>
                  <a:rPr lang="en-US" sz="1600" dirty="0"/>
                  <a:t> </a:t>
                </a:r>
                <a:r>
                  <a:rPr lang="en-US" sz="1600" dirty="0" err="1"/>
                  <a:t>ukupne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varijanse</a:t>
                </a:r>
                <a:r>
                  <a:rPr lang="en-US" sz="1600" dirty="0"/>
                  <a:t>. </a:t>
                </a:r>
              </a:p>
              <a:p>
                <a:pPr lvl="0"/>
                <a:r>
                  <a:rPr lang="en-US" sz="1600" b="1" dirty="0" err="1"/>
                  <a:t>Varijanta</a:t>
                </a:r>
                <a:r>
                  <a:rPr lang="en-US" sz="1600" b="1" dirty="0"/>
                  <a:t> 2 (Prag </a:t>
                </a:r>
                <a:r>
                  <a:rPr lang="en-US" sz="1600" b="1" dirty="0" err="1"/>
                  <a:t>varijanse</a:t>
                </a:r>
                <a:r>
                  <a:rPr lang="en-US" sz="1600" b="1" dirty="0"/>
                  <a:t> 99%):</a:t>
                </a:r>
                <a:r>
                  <a:rPr lang="sr-Latn-ME" sz="1600" dirty="0"/>
                  <a:t> </a:t>
                </a:r>
                <a:r>
                  <a:rPr lang="en-US" sz="1600" dirty="0" err="1"/>
                  <a:t>Algoritam</a:t>
                </a:r>
                <a:r>
                  <a:rPr lang="en-US" sz="1600" dirty="0"/>
                  <a:t> je </a:t>
                </a:r>
                <a:r>
                  <a:rPr lang="en-US" sz="1600" dirty="0" err="1"/>
                  <a:t>automatski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selektovao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tačno</a:t>
                </a:r>
                <a:r>
                  <a:rPr lang="en-US" sz="1600" dirty="0"/>
                  <a:t> </a:t>
                </a:r>
                <a:r>
                  <a:rPr lang="en-US" sz="1600" b="1" dirty="0"/>
                  <a:t>3 </a:t>
                </a:r>
                <a:r>
                  <a:rPr lang="en-US" sz="1600" b="1" dirty="0" err="1"/>
                  <a:t>komponente</a:t>
                </a:r>
                <a:r>
                  <a:rPr lang="en-US" sz="1600" dirty="0"/>
                  <a:t> za </a:t>
                </a:r>
                <a:r>
                  <a:rPr lang="en-US" sz="1600" dirty="0" err="1"/>
                  <a:t>ispunjenje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uslova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/>
                      <m:t>≥99%</m:t>
                    </m:r>
                  </m:oMath>
                </a14:m>
                <a:r>
                  <a:rPr lang="en-US" sz="1600" dirty="0"/>
                  <a:t>. </a:t>
                </a:r>
              </a:p>
              <a:p>
                <a:pPr lvl="0"/>
                <a:r>
                  <a:rPr lang="en-US" sz="1600" b="1" dirty="0" err="1"/>
                  <a:t>Vizuelna</a:t>
                </a:r>
                <a:r>
                  <a:rPr lang="en-US" sz="1600" b="1" dirty="0"/>
                  <a:t> </a:t>
                </a:r>
                <a:r>
                  <a:rPr lang="en-US" sz="1600" b="1" dirty="0" err="1"/>
                  <a:t>zapažanja</a:t>
                </a:r>
                <a:r>
                  <a:rPr lang="en-US" sz="1600" b="1" dirty="0"/>
                  <a:t> (3D </a:t>
                </a:r>
                <a:r>
                  <a:rPr lang="en-US" sz="1600" b="1" dirty="0" err="1"/>
                  <a:t>prostor</a:t>
                </a:r>
                <a:r>
                  <a:rPr lang="en-US" sz="1600" b="1" dirty="0"/>
                  <a:t>):</a:t>
                </a:r>
                <a:endParaRPr lang="en-US" sz="1600" dirty="0"/>
              </a:p>
              <a:p>
                <a:pPr lvl="1"/>
                <a:r>
                  <a:rPr lang="en-US" sz="1600" dirty="0"/>
                  <a:t>Jasna </a:t>
                </a:r>
                <a:r>
                  <a:rPr lang="en-US" sz="1600" dirty="0" err="1"/>
                  <a:t>geometrijska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odvojenost</a:t>
                </a:r>
                <a:r>
                  <a:rPr lang="en-US" sz="1600" dirty="0"/>
                  <a:t> </a:t>
                </a:r>
                <a:r>
                  <a:rPr lang="en-US" sz="1600" dirty="0" err="1"/>
                  <a:t>klase</a:t>
                </a:r>
                <a:r>
                  <a:rPr lang="en-US" sz="1600" dirty="0"/>
                  <a:t> </a:t>
                </a:r>
                <a:r>
                  <a:rPr lang="en-US" sz="1600" i="1" dirty="0" err="1"/>
                  <a:t>Setosa</a:t>
                </a:r>
                <a:r>
                  <a:rPr lang="en-US" sz="1600" dirty="0"/>
                  <a:t> u </a:t>
                </a:r>
                <a:r>
                  <a:rPr lang="en-US" sz="1600" dirty="0" err="1"/>
                  <a:t>odnosu</a:t>
                </a:r>
                <a:r>
                  <a:rPr lang="en-US" sz="1600" dirty="0"/>
                  <a:t> </a:t>
                </a:r>
                <a:r>
                  <a:rPr lang="en-US" sz="1600" dirty="0" err="1"/>
                  <a:t>na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preostale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dvije</a:t>
                </a:r>
                <a:r>
                  <a:rPr lang="en-US" sz="1600" dirty="0"/>
                  <a:t>. </a:t>
                </a:r>
              </a:p>
              <a:p>
                <a:pPr lvl="1"/>
                <a:r>
                  <a:rPr lang="en-US" sz="1600" i="1" dirty="0"/>
                  <a:t>Versicolor</a:t>
                </a:r>
                <a:r>
                  <a:rPr lang="en-US" sz="1600" dirty="0"/>
                  <a:t> </a:t>
                </a:r>
                <a:r>
                  <a:rPr lang="en-US" sz="1600" dirty="0" err="1"/>
                  <a:t>i</a:t>
                </a:r>
                <a:r>
                  <a:rPr lang="en-US" sz="1600" dirty="0"/>
                  <a:t> </a:t>
                </a:r>
                <a:r>
                  <a:rPr lang="en-US" sz="1600" i="1" dirty="0"/>
                  <a:t>Virginica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pokazuju</a:t>
                </a:r>
                <a:r>
                  <a:rPr lang="en-US" sz="1600" dirty="0"/>
                  <a:t> </a:t>
                </a:r>
                <a:r>
                  <a:rPr lang="en-US" sz="1600" dirty="0" err="1"/>
                  <a:t>blago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preklapanje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na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graničnim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područjima</a:t>
                </a:r>
                <a:r>
                  <a:rPr lang="en-US" sz="1600" dirty="0"/>
                  <a:t>. </a:t>
                </a:r>
              </a:p>
              <a:p>
                <a:pPr marL="457200" lvl="0" indent="-381000" algn="l" rtl="0">
                  <a:spcBef>
                    <a:spcPts val="0"/>
                  </a:spcBef>
                  <a:spcAft>
                    <a:spcPts val="0"/>
                  </a:spcAft>
                  <a:buSzPts val="2400"/>
                  <a:buChar char="▰"/>
                </a:pPr>
                <a:endParaRPr sz="1600" dirty="0"/>
              </a:p>
            </p:txBody>
          </p:sp>
        </mc:Choice>
        <mc:Fallback>
          <p:sp>
            <p:nvSpPr>
              <p:cNvPr id="237" name="Google Shape;237;p1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50019" y="1453369"/>
                <a:ext cx="5492400" cy="3145500"/>
              </a:xfrm>
              <a:prstGeom prst="rect">
                <a:avLst/>
              </a:prstGeom>
              <a:blipFill>
                <a:blip r:embed="rId3"/>
                <a:stretch>
                  <a:fillRect l="-222" r="-1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8" name="Google Shape;238;p1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0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08439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A0D36-74BD-F403-5786-71C56A58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Varijanta</a:t>
            </a:r>
            <a:r>
              <a:rPr lang="en-US" dirty="0"/>
              <a:t> 1 (</a:t>
            </a:r>
            <a:r>
              <a:rPr lang="en-US" dirty="0" err="1"/>
              <a:t>Ručno</a:t>
            </a:r>
            <a:r>
              <a:rPr lang="en-US" dirty="0"/>
              <a:t>: 3 </a:t>
            </a:r>
            <a:r>
              <a:rPr lang="en-US" dirty="0" err="1"/>
              <a:t>komponente</a:t>
            </a:r>
            <a:r>
              <a:rPr lang="sr-Latn-ME" dirty="0"/>
              <a:t>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8A326-0C2D-AE6F-B59E-9403E56277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grpSp>
        <p:nvGrpSpPr>
          <p:cNvPr id="6" name="Google Shape;239;p16">
            <a:extLst>
              <a:ext uri="{FF2B5EF4-FFF2-40B4-BE49-F238E27FC236}">
                <a16:creationId xmlns:a16="http://schemas.microsoft.com/office/drawing/2014/main" id="{DEB62640-AA38-C2E3-E3C2-F5277EA3D197}"/>
              </a:ext>
            </a:extLst>
          </p:cNvPr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7" name="Google Shape;240;p16">
              <a:extLst>
                <a:ext uri="{FF2B5EF4-FFF2-40B4-BE49-F238E27FC236}">
                  <a16:creationId xmlns:a16="http://schemas.microsoft.com/office/drawing/2014/main" id="{F9CDB07C-2C71-E23F-B8B8-799FEE7EA343}"/>
                </a:ext>
              </a:extLst>
            </p:cNvPr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1;p16">
              <a:extLst>
                <a:ext uri="{FF2B5EF4-FFF2-40B4-BE49-F238E27FC236}">
                  <a16:creationId xmlns:a16="http://schemas.microsoft.com/office/drawing/2014/main" id="{657C4CB2-09FE-1051-A5DF-475301D0A952}"/>
                </a:ext>
              </a:extLst>
            </p:cNvPr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2;p16">
              <a:extLst>
                <a:ext uri="{FF2B5EF4-FFF2-40B4-BE49-F238E27FC236}">
                  <a16:creationId xmlns:a16="http://schemas.microsoft.com/office/drawing/2014/main" id="{9ACB807C-8449-F6C6-9E46-25E78F4AD14B}"/>
                </a:ext>
              </a:extLst>
            </p:cNvPr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3;p16">
              <a:extLst>
                <a:ext uri="{FF2B5EF4-FFF2-40B4-BE49-F238E27FC236}">
                  <a16:creationId xmlns:a16="http://schemas.microsoft.com/office/drawing/2014/main" id="{DDC850C0-C76F-126E-EAEE-3F16F9F53E56}"/>
                </a:ext>
              </a:extLst>
            </p:cNvPr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EF3F1BE5-59B1-6B69-1B8B-9EFCC867F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956" y="1696956"/>
            <a:ext cx="4290373" cy="320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320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86F2D-8516-C639-9D45-AE41DDC7D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BD670-0A08-1CC4-A1A2-C04E5FFF5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Varijanta</a:t>
            </a:r>
            <a:r>
              <a:rPr lang="en-US" dirty="0"/>
              <a:t> 2 (Prag </a:t>
            </a:r>
            <a:r>
              <a:rPr lang="en-US" dirty="0" err="1"/>
              <a:t>varijanse</a:t>
            </a:r>
            <a:r>
              <a:rPr lang="en-US" dirty="0"/>
              <a:t> 99%)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7E412-CFB8-BE64-3684-F58A637E93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grpSp>
        <p:nvGrpSpPr>
          <p:cNvPr id="6" name="Google Shape;239;p16">
            <a:extLst>
              <a:ext uri="{FF2B5EF4-FFF2-40B4-BE49-F238E27FC236}">
                <a16:creationId xmlns:a16="http://schemas.microsoft.com/office/drawing/2014/main" id="{88CE852D-C194-F3FC-6E0D-50681A908D65}"/>
              </a:ext>
            </a:extLst>
          </p:cNvPr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7" name="Google Shape;240;p16">
              <a:extLst>
                <a:ext uri="{FF2B5EF4-FFF2-40B4-BE49-F238E27FC236}">
                  <a16:creationId xmlns:a16="http://schemas.microsoft.com/office/drawing/2014/main" id="{617DD189-3FA2-DD17-2D91-82E791340883}"/>
                </a:ext>
              </a:extLst>
            </p:cNvPr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1;p16">
              <a:extLst>
                <a:ext uri="{FF2B5EF4-FFF2-40B4-BE49-F238E27FC236}">
                  <a16:creationId xmlns:a16="http://schemas.microsoft.com/office/drawing/2014/main" id="{E6D83FE1-6CEC-CD84-1D05-F1043550B612}"/>
                </a:ext>
              </a:extLst>
            </p:cNvPr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2;p16">
              <a:extLst>
                <a:ext uri="{FF2B5EF4-FFF2-40B4-BE49-F238E27FC236}">
                  <a16:creationId xmlns:a16="http://schemas.microsoft.com/office/drawing/2014/main" id="{00F57274-0B6F-6430-72F0-26EB341EE4B8}"/>
                </a:ext>
              </a:extLst>
            </p:cNvPr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3;p16">
              <a:extLst>
                <a:ext uri="{FF2B5EF4-FFF2-40B4-BE49-F238E27FC236}">
                  <a16:creationId xmlns:a16="http://schemas.microsoft.com/office/drawing/2014/main" id="{0BB1E088-4166-BCEA-F4A2-DA4B5134E66C}"/>
                </a:ext>
              </a:extLst>
            </p:cNvPr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B61A67E-BF22-D0A4-315B-00968B4AE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415" y="1488559"/>
            <a:ext cx="4114808" cy="320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144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err="1"/>
              <a:t>Rezultati</a:t>
            </a:r>
            <a:r>
              <a:rPr lang="en-US" dirty="0"/>
              <a:t> – 2D </a:t>
            </a:r>
            <a:r>
              <a:rPr lang="en-US" dirty="0" err="1"/>
              <a:t>Projekcija</a:t>
            </a:r>
            <a:r>
              <a:rPr lang="en-US" dirty="0"/>
              <a:t> (</a:t>
            </a:r>
            <a:r>
              <a:rPr lang="en-US" dirty="0" err="1"/>
              <a:t>Varijante</a:t>
            </a:r>
            <a:r>
              <a:rPr lang="en-US" dirty="0"/>
              <a:t> 3 </a:t>
            </a:r>
            <a:r>
              <a:rPr lang="en-US" dirty="0" err="1"/>
              <a:t>i</a:t>
            </a:r>
            <a:r>
              <a:rPr lang="en-US" dirty="0"/>
              <a:t> 4)</a:t>
            </a:r>
            <a:endParaRPr dirty="0"/>
          </a:p>
        </p:txBody>
      </p:sp>
      <p:sp>
        <p:nvSpPr>
          <p:cNvPr id="237" name="Google Shape;237;p16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31243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800" b="1" dirty="0" err="1"/>
              <a:t>Varijanta</a:t>
            </a:r>
            <a:r>
              <a:rPr lang="en-US" sz="1800" b="1" dirty="0"/>
              <a:t> 3 (</a:t>
            </a:r>
            <a:r>
              <a:rPr lang="en-US" sz="1800" b="1" dirty="0" err="1"/>
              <a:t>Ručno</a:t>
            </a:r>
            <a:r>
              <a:rPr lang="en-US" sz="1800" b="1" dirty="0"/>
              <a:t>: 2 </a:t>
            </a:r>
            <a:r>
              <a:rPr lang="en-US" sz="1800" b="1" dirty="0" err="1"/>
              <a:t>komponente</a:t>
            </a:r>
            <a:r>
              <a:rPr lang="en-US" sz="1800" b="1" dirty="0"/>
              <a:t>):</a:t>
            </a:r>
            <a:r>
              <a:rPr lang="sr-Latn-ME" sz="1800" b="1" dirty="0"/>
              <a:t> </a:t>
            </a:r>
            <a:r>
              <a:rPr lang="en-US" sz="1800" dirty="0" err="1"/>
              <a:t>Prve</a:t>
            </a:r>
            <a:r>
              <a:rPr lang="en-US" sz="1800" dirty="0"/>
              <a:t> </a:t>
            </a:r>
            <a:r>
              <a:rPr lang="en-US" sz="1800" dirty="0" err="1"/>
              <a:t>dvije</a:t>
            </a:r>
            <a:r>
              <a:rPr lang="en-US" sz="1800" dirty="0"/>
              <a:t> </a:t>
            </a:r>
            <a:r>
              <a:rPr lang="en-US" sz="1800" dirty="0" err="1"/>
              <a:t>komponente</a:t>
            </a:r>
            <a:r>
              <a:rPr lang="en-US" sz="1800" dirty="0"/>
              <a:t> </a:t>
            </a:r>
            <a:r>
              <a:rPr lang="en-US" sz="1800" dirty="0" err="1"/>
              <a:t>objašnjavaju</a:t>
            </a:r>
            <a:r>
              <a:rPr lang="en-US" sz="1800" dirty="0"/>
              <a:t> </a:t>
            </a:r>
            <a:r>
              <a:rPr lang="en-US" sz="1800" b="1" dirty="0"/>
              <a:t>95.81%</a:t>
            </a:r>
            <a:r>
              <a:rPr lang="en-US" sz="1800" dirty="0"/>
              <a:t> </a:t>
            </a:r>
            <a:r>
              <a:rPr lang="en-US" sz="1800" dirty="0" err="1"/>
              <a:t>ukupne</a:t>
            </a:r>
            <a:r>
              <a:rPr lang="en-US" sz="1800" dirty="0"/>
              <a:t> </a:t>
            </a:r>
            <a:r>
              <a:rPr lang="en-US" sz="1800" dirty="0" err="1"/>
              <a:t>varijanse</a:t>
            </a:r>
            <a:r>
              <a:rPr lang="en-US" sz="1800" dirty="0"/>
              <a:t>. </a:t>
            </a:r>
          </a:p>
          <a:p>
            <a:pPr lvl="0"/>
            <a:r>
              <a:rPr lang="en-US" sz="1800" b="1" dirty="0" err="1"/>
              <a:t>Varijanta</a:t>
            </a:r>
            <a:r>
              <a:rPr lang="en-US" sz="1800" b="1" dirty="0"/>
              <a:t> 4 (Prag </a:t>
            </a:r>
            <a:r>
              <a:rPr lang="en-US" sz="1800" b="1" dirty="0" err="1"/>
              <a:t>varijanse</a:t>
            </a:r>
            <a:r>
              <a:rPr lang="en-US" sz="1800" b="1" dirty="0"/>
              <a:t> 95%):</a:t>
            </a:r>
            <a:r>
              <a:rPr lang="sr-Latn-ME" sz="1800" b="1" dirty="0"/>
              <a:t> </a:t>
            </a:r>
            <a:r>
              <a:rPr lang="en-US" sz="1800" dirty="0" err="1"/>
              <a:t>Algoritam</a:t>
            </a:r>
            <a:r>
              <a:rPr lang="en-US" sz="1800" dirty="0"/>
              <a:t> </a:t>
            </a:r>
            <a:r>
              <a:rPr lang="en-US" sz="1800" dirty="0" err="1"/>
              <a:t>automatski</a:t>
            </a:r>
            <a:r>
              <a:rPr lang="en-US" sz="1800" dirty="0"/>
              <a:t> </a:t>
            </a:r>
            <a:r>
              <a:rPr lang="en-US" sz="1800" dirty="0" err="1"/>
              <a:t>redukuje</a:t>
            </a:r>
            <a:r>
              <a:rPr lang="en-US" sz="1800" dirty="0"/>
              <a:t> </a:t>
            </a:r>
            <a:r>
              <a:rPr lang="en-US" sz="1800" dirty="0" err="1"/>
              <a:t>prostorne</a:t>
            </a:r>
            <a:r>
              <a:rPr lang="en-US" sz="1800" dirty="0"/>
              <a:t> </a:t>
            </a:r>
            <a:r>
              <a:rPr lang="en-US" sz="1800" dirty="0" err="1"/>
              <a:t>dimenzije</a:t>
            </a:r>
            <a:r>
              <a:rPr lang="en-US" sz="1800" dirty="0"/>
              <a:t> </a:t>
            </a:r>
            <a:r>
              <a:rPr lang="en-US" sz="1800" dirty="0" err="1"/>
              <a:t>sa</a:t>
            </a:r>
            <a:r>
              <a:rPr lang="en-US" sz="1800" dirty="0"/>
              <a:t> 4 </a:t>
            </a:r>
            <a:r>
              <a:rPr lang="en-US" sz="1800" dirty="0" err="1"/>
              <a:t>na</a:t>
            </a:r>
            <a:r>
              <a:rPr lang="en-US" sz="1800" dirty="0"/>
              <a:t> </a:t>
            </a:r>
            <a:r>
              <a:rPr lang="en-US" sz="1800" b="1" dirty="0"/>
              <a:t>2 </a:t>
            </a:r>
            <a:r>
              <a:rPr lang="en-US" sz="1800" b="1" dirty="0" err="1"/>
              <a:t>komponente</a:t>
            </a:r>
            <a:r>
              <a:rPr lang="en-US" sz="1800" dirty="0"/>
              <a:t>. </a:t>
            </a:r>
          </a:p>
          <a:p>
            <a:pPr lvl="0"/>
            <a:r>
              <a:rPr lang="en-US" sz="1800" b="1" dirty="0" err="1"/>
              <a:t>Efikasnost</a:t>
            </a:r>
            <a:r>
              <a:rPr lang="en-US" sz="1800" b="1" dirty="0"/>
              <a:t> </a:t>
            </a:r>
            <a:r>
              <a:rPr lang="en-US" sz="1800" b="1" dirty="0" err="1"/>
              <a:t>kompresije</a:t>
            </a:r>
            <a:r>
              <a:rPr lang="en-US" sz="1800" b="1" dirty="0"/>
              <a:t>:</a:t>
            </a:r>
            <a:endParaRPr lang="en-US" sz="1800" dirty="0"/>
          </a:p>
          <a:p>
            <a:pPr lvl="1"/>
            <a:r>
              <a:rPr lang="en-US" sz="1800" dirty="0" err="1"/>
              <a:t>Smanjenje</a:t>
            </a:r>
            <a:r>
              <a:rPr lang="en-US" sz="1800" dirty="0"/>
              <a:t> </a:t>
            </a:r>
            <a:r>
              <a:rPr lang="en-US" sz="1800" dirty="0" err="1"/>
              <a:t>dimenzionalnosti</a:t>
            </a:r>
            <a:r>
              <a:rPr lang="en-US" sz="1800" dirty="0"/>
              <a:t> za </a:t>
            </a:r>
            <a:r>
              <a:rPr lang="en-US" sz="1800" b="1" dirty="0"/>
              <a:t>50%</a:t>
            </a:r>
            <a:r>
              <a:rPr lang="en-US" sz="1800" dirty="0"/>
              <a:t> </a:t>
            </a:r>
            <a:r>
              <a:rPr lang="en-US" sz="1800" dirty="0" err="1"/>
              <a:t>uz</a:t>
            </a:r>
            <a:r>
              <a:rPr lang="en-US" sz="1800" dirty="0"/>
              <a:t> </a:t>
            </a:r>
            <a:r>
              <a:rPr lang="en-US" sz="1800" dirty="0" err="1"/>
              <a:t>gubitak</a:t>
            </a:r>
            <a:r>
              <a:rPr lang="en-US" sz="1800" dirty="0"/>
              <a:t> </a:t>
            </a:r>
            <a:r>
              <a:rPr lang="en-US" sz="1800" dirty="0" err="1"/>
              <a:t>informacija</a:t>
            </a:r>
            <a:r>
              <a:rPr lang="en-US" sz="1800" dirty="0"/>
              <a:t> od </a:t>
            </a:r>
            <a:r>
              <a:rPr lang="en-US" sz="1800" dirty="0" err="1"/>
              <a:t>svega</a:t>
            </a:r>
            <a:r>
              <a:rPr lang="en-US" sz="1800" dirty="0"/>
              <a:t> </a:t>
            </a:r>
            <a:r>
              <a:rPr lang="en-US" sz="1800" b="1" dirty="0"/>
              <a:t>4.19%</a:t>
            </a:r>
            <a:r>
              <a:rPr lang="en-US" sz="1800" dirty="0"/>
              <a:t>. </a:t>
            </a:r>
          </a:p>
          <a:p>
            <a:pPr lvl="1"/>
            <a:r>
              <a:rPr lang="en-US" sz="1800" dirty="0"/>
              <a:t>2D </a:t>
            </a:r>
            <a:r>
              <a:rPr lang="en-US" sz="1800" dirty="0" err="1"/>
              <a:t>projekcija</a:t>
            </a:r>
            <a:r>
              <a:rPr lang="en-US" sz="1800" dirty="0"/>
              <a:t> </a:t>
            </a:r>
            <a:r>
              <a:rPr lang="en-US" sz="1800" dirty="0" err="1"/>
              <a:t>pruža</a:t>
            </a:r>
            <a:r>
              <a:rPr lang="en-US" sz="1800" dirty="0"/>
              <a:t> </a:t>
            </a:r>
            <a:r>
              <a:rPr lang="en-US" sz="1800" dirty="0" err="1"/>
              <a:t>optimalan</a:t>
            </a:r>
            <a:r>
              <a:rPr lang="en-US" sz="1800" dirty="0"/>
              <a:t> </a:t>
            </a:r>
            <a:r>
              <a:rPr lang="en-US" sz="1800" dirty="0" err="1"/>
              <a:t>balans</a:t>
            </a:r>
            <a:r>
              <a:rPr lang="en-US" sz="1800" dirty="0"/>
              <a:t> </a:t>
            </a:r>
            <a:r>
              <a:rPr lang="en-US" sz="1800" dirty="0" err="1"/>
              <a:t>između</a:t>
            </a:r>
            <a:r>
              <a:rPr lang="en-US" sz="1800" dirty="0"/>
              <a:t> </a:t>
            </a:r>
            <a:r>
              <a:rPr lang="en-US" sz="1800" dirty="0" err="1"/>
              <a:t>jednostavnosti</a:t>
            </a:r>
            <a:r>
              <a:rPr lang="en-US" sz="1800" dirty="0"/>
              <a:t> </a:t>
            </a:r>
            <a:r>
              <a:rPr lang="en-US" sz="1800" dirty="0" err="1"/>
              <a:t>prikaza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očuvanja</a:t>
            </a:r>
            <a:r>
              <a:rPr lang="en-US" sz="1800" dirty="0"/>
              <a:t> </a:t>
            </a:r>
            <a:r>
              <a:rPr lang="en-US" sz="1800" dirty="0" err="1"/>
              <a:t>strukture</a:t>
            </a:r>
            <a:r>
              <a:rPr lang="en-US" sz="1800" dirty="0"/>
              <a:t>. </a:t>
            </a:r>
            <a:endParaRPr sz="1800" dirty="0"/>
          </a:p>
        </p:txBody>
      </p:sp>
      <p:sp>
        <p:nvSpPr>
          <p:cNvPr id="238" name="Google Shape;238;p1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0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04388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076FD-149F-6B3B-A133-286CA8FEE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AC890-9E1D-B20D-958C-9935800C9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Varijanta</a:t>
            </a:r>
            <a:r>
              <a:rPr lang="en-US" dirty="0"/>
              <a:t> 3 (</a:t>
            </a:r>
            <a:r>
              <a:rPr lang="en-US" dirty="0" err="1"/>
              <a:t>Ručno</a:t>
            </a:r>
            <a:r>
              <a:rPr lang="en-US" dirty="0"/>
              <a:t>: 2 </a:t>
            </a:r>
            <a:r>
              <a:rPr lang="en-US" dirty="0" err="1"/>
              <a:t>komponente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C0AA5-1E9C-9F4B-83A9-8A567E0D71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grpSp>
        <p:nvGrpSpPr>
          <p:cNvPr id="6" name="Google Shape;239;p16">
            <a:extLst>
              <a:ext uri="{FF2B5EF4-FFF2-40B4-BE49-F238E27FC236}">
                <a16:creationId xmlns:a16="http://schemas.microsoft.com/office/drawing/2014/main" id="{F61435E2-C1EF-D5E2-3D5A-571166DC62E5}"/>
              </a:ext>
            </a:extLst>
          </p:cNvPr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7" name="Google Shape;240;p16">
              <a:extLst>
                <a:ext uri="{FF2B5EF4-FFF2-40B4-BE49-F238E27FC236}">
                  <a16:creationId xmlns:a16="http://schemas.microsoft.com/office/drawing/2014/main" id="{CF9472A4-1DEF-6DB8-DCA0-E162D8F612D5}"/>
                </a:ext>
              </a:extLst>
            </p:cNvPr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1;p16">
              <a:extLst>
                <a:ext uri="{FF2B5EF4-FFF2-40B4-BE49-F238E27FC236}">
                  <a16:creationId xmlns:a16="http://schemas.microsoft.com/office/drawing/2014/main" id="{E4897836-ED7D-891F-9845-0EF6339A8D65}"/>
                </a:ext>
              </a:extLst>
            </p:cNvPr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2;p16">
              <a:extLst>
                <a:ext uri="{FF2B5EF4-FFF2-40B4-BE49-F238E27FC236}">
                  <a16:creationId xmlns:a16="http://schemas.microsoft.com/office/drawing/2014/main" id="{033063DF-7B04-0F89-24D1-0A7AEB6AF46A}"/>
                </a:ext>
              </a:extLst>
            </p:cNvPr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3;p16">
              <a:extLst>
                <a:ext uri="{FF2B5EF4-FFF2-40B4-BE49-F238E27FC236}">
                  <a16:creationId xmlns:a16="http://schemas.microsoft.com/office/drawing/2014/main" id="{4F8EF47D-3D89-815B-E128-8FA19026D1AF}"/>
                </a:ext>
              </a:extLst>
            </p:cNvPr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8E8F09A-3BED-B3CB-3E6D-ADD76634F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221" y="1627335"/>
            <a:ext cx="4438507" cy="332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564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4B9C9-6C05-503C-3D5F-C06F124E5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6F216-9AE3-67C3-CDE1-01DB90794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Varijanta</a:t>
            </a:r>
            <a:r>
              <a:rPr lang="en-US" dirty="0"/>
              <a:t> 4 (Prag </a:t>
            </a:r>
            <a:r>
              <a:rPr lang="en-US" dirty="0" err="1"/>
              <a:t>varijanse</a:t>
            </a:r>
            <a:r>
              <a:rPr lang="en-US" dirty="0"/>
              <a:t> 95%)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134A1-3C66-DC45-3241-AA8B3AF230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grpSp>
        <p:nvGrpSpPr>
          <p:cNvPr id="6" name="Google Shape;239;p16">
            <a:extLst>
              <a:ext uri="{FF2B5EF4-FFF2-40B4-BE49-F238E27FC236}">
                <a16:creationId xmlns:a16="http://schemas.microsoft.com/office/drawing/2014/main" id="{3F34D527-7A40-E643-DC12-A8A1757B21BD}"/>
              </a:ext>
            </a:extLst>
          </p:cNvPr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7" name="Google Shape;240;p16">
              <a:extLst>
                <a:ext uri="{FF2B5EF4-FFF2-40B4-BE49-F238E27FC236}">
                  <a16:creationId xmlns:a16="http://schemas.microsoft.com/office/drawing/2014/main" id="{83AA0D3A-8016-8E47-677F-00CE9B0C2BF2}"/>
                </a:ext>
              </a:extLst>
            </p:cNvPr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1;p16">
              <a:extLst>
                <a:ext uri="{FF2B5EF4-FFF2-40B4-BE49-F238E27FC236}">
                  <a16:creationId xmlns:a16="http://schemas.microsoft.com/office/drawing/2014/main" id="{768CB237-D40B-EB1C-8D3B-4FB8C99A532E}"/>
                </a:ext>
              </a:extLst>
            </p:cNvPr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2;p16">
              <a:extLst>
                <a:ext uri="{FF2B5EF4-FFF2-40B4-BE49-F238E27FC236}">
                  <a16:creationId xmlns:a16="http://schemas.microsoft.com/office/drawing/2014/main" id="{C8AAE8A1-5056-AFD3-C477-14BEB4F3D56D}"/>
                </a:ext>
              </a:extLst>
            </p:cNvPr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3;p16">
              <a:extLst>
                <a:ext uri="{FF2B5EF4-FFF2-40B4-BE49-F238E27FC236}">
                  <a16:creationId xmlns:a16="http://schemas.microsoft.com/office/drawing/2014/main" id="{C3744D9B-A08C-BBF9-146A-58201CD372D5}"/>
                </a:ext>
              </a:extLst>
            </p:cNvPr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930DE10-81FA-6FAD-FFD0-351A6818C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265" y="1447589"/>
            <a:ext cx="4328778" cy="334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578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Analiza </a:t>
            </a:r>
            <a:r>
              <a:rPr lang="en-US" dirty="0" err="1"/>
              <a:t>razdvojivosti</a:t>
            </a:r>
            <a:r>
              <a:rPr lang="en-US" dirty="0"/>
              <a:t> </a:t>
            </a:r>
            <a:r>
              <a:rPr lang="en-US" dirty="0" err="1"/>
              <a:t>klasa</a:t>
            </a:r>
            <a:endParaRPr dirty="0"/>
          </a:p>
        </p:txBody>
      </p:sp>
      <p:sp>
        <p:nvSpPr>
          <p:cNvPr id="237" name="Google Shape;237;p16"/>
          <p:cNvSpPr txBox="1">
            <a:spLocks noGrp="1"/>
          </p:cNvSpPr>
          <p:nvPr>
            <p:ph type="body" idx="1"/>
          </p:nvPr>
        </p:nvSpPr>
        <p:spPr>
          <a:xfrm>
            <a:off x="792451" y="2143931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800" b="1" dirty="0" err="1"/>
              <a:t>Klasa</a:t>
            </a:r>
            <a:r>
              <a:rPr lang="en-US" sz="1800" b="1" dirty="0"/>
              <a:t> </a:t>
            </a:r>
            <a:r>
              <a:rPr lang="en-US" sz="1800" b="1" dirty="0" err="1"/>
              <a:t>Setosa</a:t>
            </a:r>
            <a:r>
              <a:rPr lang="en-US" sz="1800" b="1" dirty="0"/>
              <a:t> (</a:t>
            </a:r>
            <a:r>
              <a:rPr lang="en-US" sz="1800" b="1" dirty="0" err="1"/>
              <a:t>tamnoplava</a:t>
            </a:r>
            <a:r>
              <a:rPr lang="en-US" sz="1800" b="1" dirty="0"/>
              <a:t>):</a:t>
            </a:r>
            <a:endParaRPr lang="en-US" sz="1800" dirty="0"/>
          </a:p>
          <a:p>
            <a:pPr lvl="1"/>
            <a:r>
              <a:rPr lang="en-US" sz="1800" dirty="0" err="1"/>
              <a:t>Potpuno</a:t>
            </a:r>
            <a:r>
              <a:rPr lang="en-US" sz="1800" dirty="0"/>
              <a:t> </a:t>
            </a:r>
            <a:r>
              <a:rPr lang="en-US" sz="1800" dirty="0" err="1"/>
              <a:t>linearno</a:t>
            </a:r>
            <a:r>
              <a:rPr lang="en-US" sz="1800" dirty="0"/>
              <a:t> </a:t>
            </a:r>
            <a:r>
              <a:rPr lang="en-US" sz="1800" dirty="0" err="1"/>
              <a:t>razdvojiva</a:t>
            </a:r>
            <a:r>
              <a:rPr lang="en-US" sz="1800" dirty="0"/>
              <a:t> od </a:t>
            </a:r>
            <a:r>
              <a:rPr lang="en-US" sz="1800" dirty="0" err="1"/>
              <a:t>ostalih</a:t>
            </a:r>
            <a:r>
              <a:rPr lang="en-US" sz="1800" dirty="0"/>
              <a:t> </a:t>
            </a:r>
            <a:r>
              <a:rPr lang="en-US" sz="1800" dirty="0" err="1"/>
              <a:t>klasa</a:t>
            </a:r>
            <a:r>
              <a:rPr lang="en-US" sz="1800" dirty="0"/>
              <a:t> </a:t>
            </a:r>
            <a:r>
              <a:rPr lang="en-US" sz="1800" dirty="0" err="1"/>
              <a:t>već</a:t>
            </a:r>
            <a:r>
              <a:rPr lang="en-US" sz="1800" dirty="0"/>
              <a:t> </a:t>
            </a:r>
            <a:r>
              <a:rPr lang="en-US" sz="1800" dirty="0" err="1"/>
              <a:t>na</a:t>
            </a:r>
            <a:r>
              <a:rPr lang="en-US" sz="1800" dirty="0"/>
              <a:t> </a:t>
            </a:r>
            <a:r>
              <a:rPr lang="en-US" sz="1800" dirty="0" err="1"/>
              <a:t>prvoj</a:t>
            </a:r>
            <a:r>
              <a:rPr lang="en-US" sz="1800" dirty="0"/>
              <a:t> </a:t>
            </a:r>
            <a:r>
              <a:rPr lang="en-US" sz="1800" dirty="0" err="1"/>
              <a:t>glavnoj</a:t>
            </a:r>
            <a:r>
              <a:rPr lang="en-US" sz="1800" dirty="0"/>
              <a:t> </a:t>
            </a:r>
            <a:r>
              <a:rPr lang="en-US" sz="1800" dirty="0" err="1"/>
              <a:t>komponenti</a:t>
            </a:r>
            <a:r>
              <a:rPr lang="en-US" sz="1800" dirty="0"/>
              <a:t> (PC1) u </a:t>
            </a:r>
            <a:r>
              <a:rPr lang="en-US" sz="1800" dirty="0" err="1"/>
              <a:t>svim</a:t>
            </a:r>
            <a:r>
              <a:rPr lang="en-US" sz="1800" dirty="0"/>
              <a:t> </a:t>
            </a:r>
            <a:r>
              <a:rPr lang="en-US" sz="1800" dirty="0" err="1"/>
              <a:t>varijantama</a:t>
            </a:r>
            <a:r>
              <a:rPr lang="en-US" sz="1800" dirty="0"/>
              <a:t>. </a:t>
            </a:r>
          </a:p>
          <a:p>
            <a:pPr lvl="0"/>
            <a:r>
              <a:rPr lang="en-US" sz="1800" b="1" dirty="0"/>
              <a:t>Klase Versicolor (</a:t>
            </a:r>
            <a:r>
              <a:rPr lang="en-US" sz="1800" b="1" dirty="0" err="1"/>
              <a:t>tirkizna</a:t>
            </a:r>
            <a:r>
              <a:rPr lang="en-US" sz="1800" b="1" dirty="0"/>
              <a:t>) </a:t>
            </a:r>
            <a:r>
              <a:rPr lang="en-US" sz="1800" b="1" dirty="0" err="1"/>
              <a:t>i</a:t>
            </a:r>
            <a:r>
              <a:rPr lang="en-US" sz="1800" b="1" dirty="0"/>
              <a:t> Virginica (</a:t>
            </a:r>
            <a:r>
              <a:rPr lang="en-US" sz="1800" b="1" dirty="0" err="1"/>
              <a:t>narandžasta</a:t>
            </a:r>
            <a:r>
              <a:rPr lang="en-US" sz="1800" b="1" dirty="0"/>
              <a:t>):</a:t>
            </a:r>
            <a:endParaRPr lang="en-US" sz="1800" dirty="0"/>
          </a:p>
          <a:p>
            <a:pPr lvl="1"/>
            <a:r>
              <a:rPr lang="en-US" sz="1800" dirty="0" err="1"/>
              <a:t>Pokazuju</a:t>
            </a:r>
            <a:r>
              <a:rPr lang="en-US" sz="1800" dirty="0"/>
              <a:t> </a:t>
            </a:r>
            <a:r>
              <a:rPr lang="en-US" sz="1800" dirty="0" err="1"/>
              <a:t>blago</a:t>
            </a:r>
            <a:r>
              <a:rPr lang="en-US" sz="1800" dirty="0"/>
              <a:t> </a:t>
            </a:r>
            <a:r>
              <a:rPr lang="en-US" sz="1800" dirty="0" err="1"/>
              <a:t>preklapanje</a:t>
            </a:r>
            <a:r>
              <a:rPr lang="en-US" sz="1800" dirty="0"/>
              <a:t> </a:t>
            </a:r>
            <a:r>
              <a:rPr lang="en-US" sz="1800" dirty="0" err="1"/>
              <a:t>na</a:t>
            </a:r>
            <a:r>
              <a:rPr lang="en-US" sz="1800" dirty="0"/>
              <a:t> </a:t>
            </a:r>
            <a:r>
              <a:rPr lang="en-US" sz="1800" dirty="0" err="1"/>
              <a:t>granici</a:t>
            </a:r>
            <a:r>
              <a:rPr lang="en-US" sz="1800" dirty="0"/>
              <a:t>. </a:t>
            </a:r>
          </a:p>
          <a:p>
            <a:pPr lvl="1"/>
            <a:r>
              <a:rPr lang="en-US" sz="1800" dirty="0"/>
              <a:t>I pored </a:t>
            </a:r>
            <a:r>
              <a:rPr lang="en-US" sz="1800" dirty="0" err="1"/>
              <a:t>preklapanja</a:t>
            </a:r>
            <a:r>
              <a:rPr lang="en-US" sz="1800" dirty="0"/>
              <a:t>, </a:t>
            </a:r>
            <a:r>
              <a:rPr lang="en-US" sz="1800" dirty="0" err="1"/>
              <a:t>formiraju</a:t>
            </a:r>
            <a:r>
              <a:rPr lang="en-US" sz="1800" dirty="0"/>
              <a:t> </a:t>
            </a:r>
            <a:r>
              <a:rPr lang="en-US" sz="1800" dirty="0" err="1"/>
              <a:t>jasne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dobro </a:t>
            </a:r>
            <a:r>
              <a:rPr lang="en-US" sz="1800" dirty="0" err="1"/>
              <a:t>grupisane</a:t>
            </a:r>
            <a:r>
              <a:rPr lang="en-US" sz="1800" dirty="0"/>
              <a:t> </a:t>
            </a:r>
            <a:r>
              <a:rPr lang="en-US" sz="1800" dirty="0" err="1"/>
              <a:t>klastere</a:t>
            </a:r>
            <a:r>
              <a:rPr lang="en-US" sz="1800" dirty="0"/>
              <a:t> u 2D </a:t>
            </a:r>
            <a:r>
              <a:rPr lang="en-US" sz="1800" dirty="0" err="1"/>
              <a:t>i</a:t>
            </a:r>
            <a:r>
              <a:rPr lang="en-US" sz="1800" dirty="0"/>
              <a:t> 3D </a:t>
            </a:r>
            <a:r>
              <a:rPr lang="en-US" sz="1800" dirty="0" err="1"/>
              <a:t>prostoru</a:t>
            </a:r>
            <a:r>
              <a:rPr lang="en-US" sz="1800" dirty="0"/>
              <a:t>. </a:t>
            </a:r>
          </a:p>
          <a:p>
            <a:pPr>
              <a:spcBef>
                <a:spcPts val="0"/>
              </a:spcBef>
            </a:pPr>
            <a:endParaRPr lang="sr-Latn-ME" sz="1800" dirty="0"/>
          </a:p>
          <a:p>
            <a:pPr>
              <a:spcBef>
                <a:spcPts val="0"/>
              </a:spcBef>
            </a:pPr>
            <a:endParaRPr lang="sr-Latn-ME" sz="1800" dirty="0"/>
          </a:p>
          <a:p>
            <a:pPr>
              <a:spcBef>
                <a:spcPts val="0"/>
              </a:spcBef>
            </a:pPr>
            <a:endParaRPr lang="sr-Latn-ME" sz="1800" dirty="0"/>
          </a:p>
          <a:p>
            <a:pPr>
              <a:spcBef>
                <a:spcPts val="0"/>
              </a:spcBef>
            </a:pPr>
            <a:endParaRPr lang="sr-Latn-ME" sz="1800" dirty="0"/>
          </a:p>
          <a:p>
            <a:pPr>
              <a:spcBef>
                <a:spcPts val="0"/>
              </a:spcBef>
            </a:pPr>
            <a:endParaRPr lang="sr-Latn-ME" sz="1800" dirty="0"/>
          </a:p>
          <a:p>
            <a:pPr>
              <a:spcBef>
                <a:spcPts val="0"/>
              </a:spcBef>
            </a:pPr>
            <a:endParaRPr lang="sr-Latn-ME" sz="18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endParaRPr sz="1800" dirty="0"/>
          </a:p>
        </p:txBody>
      </p:sp>
      <p:sp>
        <p:nvSpPr>
          <p:cNvPr id="238" name="Google Shape;238;p1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0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46490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err="1"/>
              <a:t>Zaključak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7" name="Google Shape;237;p1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33468" y="2114159"/>
                <a:ext cx="6132600" cy="31455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r>
                  <a:rPr lang="en-US" sz="1800" b="1" dirty="0"/>
                  <a:t>Visoka </a:t>
                </a:r>
                <a:r>
                  <a:rPr lang="en-US" sz="1800" b="1" dirty="0" err="1"/>
                  <a:t>efikasnost</a:t>
                </a:r>
                <a:r>
                  <a:rPr lang="en-US" sz="1800" b="1" dirty="0"/>
                  <a:t> PCA </a:t>
                </a:r>
                <a:r>
                  <a:rPr lang="en-US" sz="1800" b="1" dirty="0" err="1"/>
                  <a:t>metode</a:t>
                </a:r>
                <a:r>
                  <a:rPr lang="en-US" sz="1800" b="1" dirty="0"/>
                  <a:t>:</a:t>
                </a:r>
                <a:r>
                  <a:rPr lang="en-US" sz="1800" dirty="0"/>
                  <a:t> </a:t>
                </a:r>
                <a:r>
                  <a:rPr lang="en-US" sz="1800" dirty="0" err="1"/>
                  <a:t>Demonstrirana</a:t>
                </a:r>
                <a:r>
                  <a:rPr lang="en-US" sz="1800" dirty="0"/>
                  <a:t> je </a:t>
                </a:r>
                <a:r>
                  <a:rPr lang="en-US" sz="1800" dirty="0" err="1"/>
                  <a:t>uspešna</a:t>
                </a:r>
                <a:r>
                  <a:rPr lang="en-US" sz="1800" dirty="0"/>
                  <a:t> </a:t>
                </a:r>
                <a:r>
                  <a:rPr lang="en-US" sz="1800" dirty="0" err="1"/>
                  <a:t>redukcija</a:t>
                </a:r>
                <a:r>
                  <a:rPr lang="en-US" sz="1800" dirty="0"/>
                  <a:t> </a:t>
                </a:r>
                <a:r>
                  <a:rPr lang="en-US" sz="1800" dirty="0" err="1"/>
                  <a:t>dimenzionalnosti</a:t>
                </a:r>
                <a:r>
                  <a:rPr lang="en-US" sz="1800" dirty="0"/>
                  <a:t> </a:t>
                </a:r>
                <a:r>
                  <a:rPr lang="en-US" sz="1800" dirty="0" err="1"/>
                  <a:t>nad</a:t>
                </a:r>
                <a:r>
                  <a:rPr lang="en-US" sz="1800" dirty="0"/>
                  <a:t> Iris </a:t>
                </a:r>
                <a:r>
                  <a:rPr lang="en-US" sz="1800" dirty="0" err="1"/>
                  <a:t>skupom</a:t>
                </a:r>
                <a:r>
                  <a:rPr lang="en-US" sz="1800" dirty="0"/>
                  <a:t> </a:t>
                </a:r>
                <a:r>
                  <a:rPr lang="en-US" sz="1800" dirty="0" err="1"/>
                  <a:t>podataka</a:t>
                </a:r>
                <a:r>
                  <a:rPr lang="en-US" sz="1800" dirty="0"/>
                  <a:t>. </a:t>
                </a:r>
              </a:p>
              <a:p>
                <a:pPr lvl="0"/>
                <a:r>
                  <a:rPr lang="en-US" sz="1800" b="1" dirty="0" err="1"/>
                  <a:t>Značajna</a:t>
                </a:r>
                <a:r>
                  <a:rPr lang="en-US" sz="1800" b="1" dirty="0"/>
                  <a:t> </a:t>
                </a:r>
                <a:r>
                  <a:rPr lang="en-US" sz="1800" b="1" dirty="0" err="1"/>
                  <a:t>kompresija</a:t>
                </a:r>
                <a:r>
                  <a:rPr lang="en-US" sz="1800" b="1" dirty="0"/>
                  <a:t> bez </a:t>
                </a:r>
                <a:r>
                  <a:rPr lang="en-US" sz="1800" b="1" dirty="0" err="1"/>
                  <a:t>gubitka</a:t>
                </a:r>
                <a:r>
                  <a:rPr lang="en-US" sz="1800" b="1" dirty="0"/>
                  <a:t> </a:t>
                </a:r>
                <a:r>
                  <a:rPr lang="en-US" sz="1800" b="1" dirty="0" err="1"/>
                  <a:t>bitnih</a:t>
                </a:r>
                <a:r>
                  <a:rPr lang="en-US" sz="1800" b="1" dirty="0"/>
                  <a:t> </a:t>
                </a:r>
                <a:r>
                  <a:rPr lang="en-US" sz="1800" b="1" dirty="0" err="1"/>
                  <a:t>informacija</a:t>
                </a:r>
                <a:r>
                  <a:rPr lang="en-US" sz="1800" b="1" dirty="0"/>
                  <a:t>:</a:t>
                </a:r>
                <a:r>
                  <a:rPr lang="en-US" sz="1800" dirty="0"/>
                  <a:t> </a:t>
                </a:r>
                <a:r>
                  <a:rPr lang="en-US" sz="1800" dirty="0" err="1"/>
                  <a:t>Prepogodnost</a:t>
                </a:r>
                <a:r>
                  <a:rPr lang="en-US" sz="1800" dirty="0"/>
                  <a:t> 2D </a:t>
                </a:r>
                <a:r>
                  <a:rPr lang="en-US" sz="1800" dirty="0" err="1"/>
                  <a:t>projekcije</a:t>
                </a:r>
                <a:r>
                  <a:rPr lang="en-US" sz="1800" dirty="0"/>
                  <a:t> </a:t>
                </a:r>
                <a:r>
                  <a:rPr lang="en-US" sz="1800" dirty="0" err="1"/>
                  <a:t>koja</a:t>
                </a:r>
                <a:r>
                  <a:rPr lang="en-US" sz="1800" dirty="0"/>
                  <a:t> </a:t>
                </a:r>
                <a:r>
                  <a:rPr lang="en-US" sz="1800" dirty="0" err="1"/>
                  <a:t>zadržava</a:t>
                </a:r>
                <a:r>
                  <a:rPr lang="en-US" sz="1800" dirty="0"/>
                  <a:t> 95.81% </a:t>
                </a:r>
                <a:r>
                  <a:rPr lang="en-US" sz="1800" dirty="0" err="1"/>
                  <a:t>originalne</a:t>
                </a:r>
                <a:r>
                  <a:rPr lang="en-US" sz="1800" dirty="0"/>
                  <a:t> </a:t>
                </a:r>
                <a:r>
                  <a:rPr lang="en-US" sz="1800" dirty="0" err="1"/>
                  <a:t>varijanse</a:t>
                </a:r>
                <a:r>
                  <a:rPr lang="en-US" sz="1800" dirty="0"/>
                  <a:t>. </a:t>
                </a:r>
              </a:p>
              <a:p>
                <a:pPr lvl="0"/>
                <a:r>
                  <a:rPr lang="en-US" sz="1800" b="1" dirty="0" err="1"/>
                  <a:t>Praktičnost</a:t>
                </a:r>
                <a:r>
                  <a:rPr lang="en-US" sz="1800" b="1" dirty="0"/>
                  <a:t> </a:t>
                </a:r>
                <a:r>
                  <a:rPr lang="en-US" sz="1800" b="1" dirty="0" err="1"/>
                  <a:t>praga</a:t>
                </a:r>
                <a:r>
                  <a:rPr lang="en-US" sz="1800" b="1" dirty="0"/>
                  <a:t> </a:t>
                </a:r>
                <a:r>
                  <a:rPr lang="en-US" sz="1800" b="1" dirty="0" err="1"/>
                  <a:t>varijanse</a:t>
                </a:r>
                <a:r>
                  <a:rPr lang="en-US" sz="1800" b="1" dirty="0"/>
                  <a:t>:</a:t>
                </a:r>
                <a:r>
                  <a:rPr lang="en-US" sz="1800" dirty="0"/>
                  <a:t> </a:t>
                </a:r>
                <a:r>
                  <a:rPr lang="en-US" sz="1800" dirty="0" err="1"/>
                  <a:t>Automatska</a:t>
                </a:r>
                <a:r>
                  <a:rPr lang="en-US" sz="1800" dirty="0"/>
                  <a:t> </a:t>
                </a:r>
                <a:r>
                  <a:rPr lang="en-US" sz="1800" dirty="0" err="1"/>
                  <a:t>selekcija</a:t>
                </a:r>
                <a:r>
                  <a:rPr lang="en-US" sz="1800" dirty="0"/>
                  <a:t> (</a:t>
                </a:r>
                <a14:m>
                  <m:oMath xmlns:m="http://schemas.openxmlformats.org/officeDocument/2006/math">
                    <m:r>
                      <a:rPr lang="en-US" sz="1800" i="1"/>
                      <m:t>𝑛</m:t>
                    </m:r>
                    <m:r>
                      <a:rPr lang="en-US" sz="1800"/>
                      <m:t>_</m:t>
                    </m:r>
                    <m:r>
                      <a:rPr lang="en-US" sz="1800" i="1"/>
                      <m:t>𝑐𝑜𝑚𝑝𝑜𝑛𝑒𝑛𝑡𝑠</m:t>
                    </m:r>
                    <m:r>
                      <a:rPr lang="en-US" sz="1800"/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800"/>
                        </m:ctrlPr>
                      </m:dPr>
                      <m:e>
                        <m:r>
                          <a:rPr lang="en-US" sz="1800"/>
                          <m:t>0.95,0.99</m:t>
                        </m:r>
                      </m:e>
                    </m:d>
                  </m:oMath>
                </a14:m>
                <a:r>
                  <a:rPr lang="en-US" sz="1800" dirty="0"/>
                  <a:t>) </a:t>
                </a:r>
                <a:r>
                  <a:rPr lang="en-US" sz="1800" dirty="0" err="1"/>
                  <a:t>omogućava</a:t>
                </a:r>
                <a:r>
                  <a:rPr lang="en-US" sz="1800" dirty="0"/>
                  <a:t> </a:t>
                </a:r>
                <a:r>
                  <a:rPr lang="en-US" sz="1800" dirty="0" err="1"/>
                  <a:t>jednostavnu</a:t>
                </a:r>
                <a:r>
                  <a:rPr lang="en-US" sz="1800" dirty="0"/>
                  <a:t> </a:t>
                </a:r>
                <a:r>
                  <a:rPr lang="en-US" sz="1800" dirty="0" err="1"/>
                  <a:t>kontrolu</a:t>
                </a:r>
                <a:r>
                  <a:rPr lang="en-US" sz="1800" dirty="0"/>
                  <a:t> </a:t>
                </a:r>
                <a:r>
                  <a:rPr lang="en-US" sz="1800" dirty="0" err="1"/>
                  <a:t>kompromisa</a:t>
                </a:r>
                <a:r>
                  <a:rPr lang="en-US" sz="1800" dirty="0"/>
                  <a:t> </a:t>
                </a:r>
                <a:r>
                  <a:rPr lang="en-US" sz="1800" dirty="0" err="1"/>
                  <a:t>između</a:t>
                </a:r>
                <a:r>
                  <a:rPr lang="en-US" sz="1800" dirty="0"/>
                  <a:t> </a:t>
                </a:r>
                <a:r>
                  <a:rPr lang="en-US" sz="1800" dirty="0" err="1"/>
                  <a:t>kompresije</a:t>
                </a:r>
                <a:r>
                  <a:rPr lang="en-US" sz="1800" dirty="0"/>
                  <a:t> </a:t>
                </a:r>
                <a:r>
                  <a:rPr lang="en-US" sz="1800" dirty="0" err="1"/>
                  <a:t>i</a:t>
                </a:r>
                <a:r>
                  <a:rPr lang="en-US" sz="1800" dirty="0"/>
                  <a:t> </a:t>
                </a:r>
                <a:r>
                  <a:rPr lang="en-US" sz="1800" dirty="0" err="1"/>
                  <a:t>preciznosti</a:t>
                </a:r>
                <a:r>
                  <a:rPr lang="en-US" sz="1800" dirty="0"/>
                  <a:t>. </a:t>
                </a:r>
              </a:p>
              <a:p>
                <a:pPr>
                  <a:spcBef>
                    <a:spcPts val="0"/>
                  </a:spcBef>
                </a:pPr>
                <a:endParaRPr lang="sr-Latn-ME" sz="1800" dirty="0"/>
              </a:p>
              <a:p>
                <a:pPr>
                  <a:spcBef>
                    <a:spcPts val="0"/>
                  </a:spcBef>
                </a:pPr>
                <a:endParaRPr lang="sr-Latn-ME" sz="1800" dirty="0"/>
              </a:p>
              <a:p>
                <a:pPr>
                  <a:spcBef>
                    <a:spcPts val="0"/>
                  </a:spcBef>
                </a:pPr>
                <a:endParaRPr lang="sr-Latn-ME" sz="1800" dirty="0"/>
              </a:p>
              <a:p>
                <a:pPr>
                  <a:spcBef>
                    <a:spcPts val="0"/>
                  </a:spcBef>
                </a:pPr>
                <a:endParaRPr lang="sr-Latn-ME" sz="1800" dirty="0"/>
              </a:p>
              <a:p>
                <a:pPr>
                  <a:spcBef>
                    <a:spcPts val="0"/>
                  </a:spcBef>
                </a:pPr>
                <a:endParaRPr lang="en-US" sz="1800" dirty="0"/>
              </a:p>
              <a:p>
                <a:pPr marL="457200" lvl="0" indent="-381000" algn="l" rtl="0">
                  <a:spcBef>
                    <a:spcPts val="0"/>
                  </a:spcBef>
                  <a:spcAft>
                    <a:spcPts val="0"/>
                  </a:spcAft>
                  <a:buSzPts val="2400"/>
                  <a:buChar char="▰"/>
                </a:pPr>
                <a:endParaRPr sz="1800" dirty="0"/>
              </a:p>
            </p:txBody>
          </p:sp>
        </mc:Choice>
        <mc:Fallback>
          <p:sp>
            <p:nvSpPr>
              <p:cNvPr id="237" name="Google Shape;237;p1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33468" y="2114159"/>
                <a:ext cx="6132600" cy="3145500"/>
              </a:xfrm>
              <a:prstGeom prst="rect">
                <a:avLst/>
              </a:prstGeom>
              <a:blipFill>
                <a:blip r:embed="rId3"/>
                <a:stretch>
                  <a:fillRect l="-199" t="-17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8" name="Google Shape;238;p1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0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95876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524" name="Google Shape;524;p33"/>
          <p:cNvSpPr txBox="1">
            <a:spLocks noGrp="1"/>
          </p:cNvSpPr>
          <p:nvPr>
            <p:ph type="ctrTitle" idx="4294967295"/>
          </p:nvPr>
        </p:nvSpPr>
        <p:spPr>
          <a:xfrm>
            <a:off x="1275150" y="2364400"/>
            <a:ext cx="65937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ME" sz="6000" dirty="0">
                <a:solidFill>
                  <a:schemeClr val="accent5"/>
                </a:solidFill>
              </a:rPr>
              <a:t>HVALA NA PAŽNJI!</a:t>
            </a:r>
            <a:endParaRPr sz="6000" dirty="0">
              <a:solidFill>
                <a:schemeClr val="accent5"/>
              </a:solidFill>
            </a:endParaRPr>
          </a:p>
        </p:txBody>
      </p:sp>
      <p:sp>
        <p:nvSpPr>
          <p:cNvPr id="525" name="Google Shape;525;p33"/>
          <p:cNvSpPr txBox="1">
            <a:spLocks noGrp="1"/>
          </p:cNvSpPr>
          <p:nvPr>
            <p:ph type="subTitle" idx="4294967295"/>
          </p:nvPr>
        </p:nvSpPr>
        <p:spPr>
          <a:xfrm>
            <a:off x="1275150" y="3230000"/>
            <a:ext cx="6593700" cy="13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/>
              <a:t>i</a:t>
            </a:r>
            <a:r>
              <a:rPr lang="sr-Latn-ME" sz="2000" dirty="0"/>
              <a:t>vana.cvorovic7</a:t>
            </a:r>
            <a:r>
              <a:rPr lang="en-US" sz="2000" dirty="0"/>
              <a:t>@gmail.com</a:t>
            </a:r>
            <a:endParaRPr sz="2000" b="1" dirty="0"/>
          </a:p>
        </p:txBody>
      </p:sp>
      <p:grpSp>
        <p:nvGrpSpPr>
          <p:cNvPr id="526" name="Google Shape;526;p33"/>
          <p:cNvGrpSpPr/>
          <p:nvPr/>
        </p:nvGrpSpPr>
        <p:grpSpPr>
          <a:xfrm>
            <a:off x="3996210" y="966817"/>
            <a:ext cx="1197664" cy="1126777"/>
            <a:chOff x="5972700" y="2330200"/>
            <a:chExt cx="411625" cy="387275"/>
          </a:xfrm>
        </p:grpSpPr>
        <p:sp>
          <p:nvSpPr>
            <p:cNvPr id="527" name="Google Shape;527;p33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l" t="t" r="r" b="b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3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l" t="t" r="r" b="b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E0E4E9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573</Words>
  <Application>Microsoft Office PowerPoint</Application>
  <PresentationFormat>On-screen Show (16:9)</PresentationFormat>
  <Paragraphs>74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Cambria Math</vt:lpstr>
      <vt:lpstr>Arial</vt:lpstr>
      <vt:lpstr>Roboto Condensed</vt:lpstr>
      <vt:lpstr>Roboto Condensed Light</vt:lpstr>
      <vt:lpstr>Arvo</vt:lpstr>
      <vt:lpstr>Salerio template</vt:lpstr>
      <vt:lpstr>Praktična primjena metode PCA za smanjenje dimenzionalnosti nad skupom podataka Iris</vt:lpstr>
      <vt:lpstr>Uvod i cilj zadatka</vt:lpstr>
      <vt:lpstr>Skup podataka i pretprocesiranje</vt:lpstr>
      <vt:lpstr>Metodologija i eksperimentalne varijante</vt:lpstr>
      <vt:lpstr>Rezultati – 3D Projekcija (Varijante 1 i 2)</vt:lpstr>
      <vt:lpstr>Varijanta 1 (Ručno: 3 komponente)</vt:lpstr>
      <vt:lpstr>Varijanta 2 (Prag varijanse 99%)</vt:lpstr>
      <vt:lpstr>Rezultati – 2D Projekcija (Varijante 3 i 4)</vt:lpstr>
      <vt:lpstr>Varijanta 3 (Ručno: 2 komponente)</vt:lpstr>
      <vt:lpstr>Varijanta 4 (Prag varijanse 95%)</vt:lpstr>
      <vt:lpstr>Analiza razdvojivosti klasa</vt:lpstr>
      <vt:lpstr>Zaključak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SMANJENJE DIMENZIONALNOSTI I ALGORITAM PCA</dc:title>
  <dc:creator>Korisnik</dc:creator>
  <cp:lastModifiedBy>Marko Grebović</cp:lastModifiedBy>
  <cp:revision>23</cp:revision>
  <dcterms:modified xsi:type="dcterms:W3CDTF">2026-09-07T20:28:50Z</dcterms:modified>
</cp:coreProperties>
</file>